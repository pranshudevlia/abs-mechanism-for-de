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Poppins Bold" charset="1" panose="00000800000000000000"/>
      <p:regular r:id="rId30"/>
    </p:embeddedFont>
    <p:embeddedFont>
      <p:font typeface="DM Sans Bold" charset="1" panose="00000000000000000000"/>
      <p:regular r:id="rId31"/>
    </p:embeddedFont>
    <p:embeddedFont>
      <p:font typeface="League Spartan" charset="1" panose="00000800000000000000"/>
      <p:regular r:id="rId32"/>
    </p:embeddedFont>
    <p:embeddedFont>
      <p:font typeface="DM Sans Bold Italics" charset="1" panose="00000000000000000000"/>
      <p:regular r:id="rId33"/>
    </p:embeddedFont>
    <p:embeddedFont>
      <p:font typeface="Poppins" charset="1" panose="00000500000000000000"/>
      <p:regular r:id="rId34"/>
    </p:embeddedFont>
    <p:embeddedFont>
      <p:font typeface="Poppins Bold Italics" charset="1" panose="00000800000000000000"/>
      <p:regular r:id="rId35"/>
    </p:embeddedFont>
    <p:embeddedFont>
      <p:font typeface="Poppins Italics" charset="1" panose="00000500000000000000"/>
      <p:regular r:id="rId36"/>
    </p:embeddedFont>
    <p:embeddedFont>
      <p:font typeface="Canva Sans" charset="1" panose="020B0503030501040103"/>
      <p:regular r:id="rId37"/>
    </p:embeddedFont>
    <p:embeddedFont>
      <p:font typeface="Arial Bold" charset="1" panose="020B0704020202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canva.link/vc7hg33qx0vj04g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VAHVWn5_ic8.mp4" Type="http://schemas.openxmlformats.org/officeDocument/2006/relationships/video"/><Relationship Id="rId4" Target="../media/VAHVWn5_ic8.mp4" Type="http://schemas.microsoft.com/office/2007/relationships/media"/><Relationship Id="rId5" Target="https://canva.link/vc7hg33qx0vj04g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Relationship Id="rId3" Target="../media/VAHVWtpEGD8.mp4" Type="http://schemas.openxmlformats.org/officeDocument/2006/relationships/video"/><Relationship Id="rId4" Target="../media/VAHVWtpEGD8.mp4" Type="http://schemas.microsoft.com/office/2007/relationships/media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jpeg" Type="http://schemas.openxmlformats.org/officeDocument/2006/relationships/image"/><Relationship Id="rId3" Target="../media/VAHVWkIQAi4.mp4" Type="http://schemas.openxmlformats.org/officeDocument/2006/relationships/video"/><Relationship Id="rId4" Target="../media/VAHVWkIQAi4.mp4" Type="http://schemas.microsoft.com/office/2007/relationships/media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2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png" Type="http://schemas.openxmlformats.org/officeDocument/2006/relationships/image"/><Relationship Id="rId11" Target="../media/image41.png" Type="http://schemas.openxmlformats.org/officeDocument/2006/relationships/image"/><Relationship Id="rId12" Target="../media/image42.png" Type="http://schemas.openxmlformats.org/officeDocument/2006/relationships/image"/><Relationship Id="rId13" Target="../media/image43.png" Type="http://schemas.openxmlformats.org/officeDocument/2006/relationships/image"/><Relationship Id="rId14" Target="../media/image44.png" Type="http://schemas.openxmlformats.org/officeDocument/2006/relationships/image"/><Relationship Id="rId2" Target="../media/image32.png" Type="http://schemas.openxmlformats.org/officeDocument/2006/relationships/image"/><Relationship Id="rId3" Target="../media/image33.pn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37.png" Type="http://schemas.openxmlformats.org/officeDocument/2006/relationships/image"/><Relationship Id="rId8" Target="../media/image38.pn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26132" y="2146168"/>
            <a:ext cx="2835737" cy="3068939"/>
          </a:xfrm>
          <a:custGeom>
            <a:avLst/>
            <a:gdLst/>
            <a:ahLst/>
            <a:cxnLst/>
            <a:rect r="r" b="b" t="t" l="l"/>
            <a:pathLst>
              <a:path h="3068939" w="2835737">
                <a:moveTo>
                  <a:pt x="0" y="0"/>
                </a:moveTo>
                <a:lnTo>
                  <a:pt x="2835736" y="0"/>
                </a:lnTo>
                <a:lnTo>
                  <a:pt x="2835736" y="3068939"/>
                </a:lnTo>
                <a:lnTo>
                  <a:pt x="0" y="30689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0677" y="5505789"/>
            <a:ext cx="9106647" cy="61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4"/>
              </a:lnSpc>
            </a:pPr>
            <a:r>
              <a:rPr lang="en-US" b="true" sz="3482" u="sng">
                <a:solidFill>
                  <a:srgbClr val="0B4E9F"/>
                </a:solidFill>
                <a:latin typeface="Poppins Bold"/>
                <a:ea typeface="Poppins Bold"/>
                <a:cs typeface="Poppins Bold"/>
                <a:sym typeface="Poppins Bold"/>
              </a:rPr>
              <a:t>B.TECH PROJECT  END-EVALUATION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57965" y="375407"/>
            <a:ext cx="12572070" cy="138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73"/>
              </a:lnSpc>
            </a:pPr>
            <a:r>
              <a:rPr lang="en-US" b="true" sz="3980">
                <a:solidFill>
                  <a:srgbClr val="313844"/>
                </a:solidFill>
                <a:latin typeface="DM Sans Bold"/>
                <a:ea typeface="DM Sans Bold"/>
                <a:cs typeface="DM Sans Bold"/>
                <a:sym typeface="DM Sans Bold"/>
              </a:rPr>
              <a:t>Design and development of fully automated biaxial stretching mechanism for dielectric elastomers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099835" y="6748919"/>
            <a:ext cx="2766566" cy="55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sz="301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56341" y="7568879"/>
            <a:ext cx="5759009" cy="98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Pranshu Devlia - 230003052</a:t>
            </a:r>
          </a:p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Jitesh K. Meena - 230003030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53872" y="6713868"/>
            <a:ext cx="2188518" cy="552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5"/>
              </a:lnSpc>
            </a:pPr>
            <a:r>
              <a:rPr lang="en-US" sz="301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Guided by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7701" y="7533828"/>
            <a:ext cx="7055495" cy="195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Dr. Aman Khurana</a:t>
            </a:r>
          </a:p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Assisstant Professor</a:t>
            </a:r>
          </a:p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Department of Mechanical Engineering</a:t>
            </a:r>
          </a:p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IIT Indore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5516" y="207645"/>
            <a:ext cx="5897424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CONTENT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0952" y="1819469"/>
            <a:ext cx="9088100" cy="6571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Introduction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Significance of Pre-stretch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Existing Mechanisms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Objective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Work Done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Design and Measurements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Hardware Components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Block and Circuit Diagram</a:t>
            </a:r>
          </a:p>
          <a:p>
            <a:pPr algn="l" marL="893879" indent="-446940" lvl="1">
              <a:lnSpc>
                <a:spcPts val="5796"/>
              </a:lnSpc>
              <a:buAutoNum type="arabicPeriod" startAt="1"/>
            </a:pPr>
            <a:r>
              <a:rPr lang="en-US" b="true" sz="4140" i="true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 Future Work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626778" y="259564"/>
            <a:ext cx="188354" cy="40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4"/>
              </a:lnSpc>
              <a:spcBef>
                <a:spcPct val="0"/>
              </a:spcBef>
            </a:pPr>
            <a:r>
              <a:rPr lang="en-US" sz="23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  <a:hlinkClick r:id="rId2" tooltip="https://canva.link/vc7hg33qx0vj04g"/>
              </a:rPr>
              <a:t>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-6301917" y="7055122"/>
            <a:ext cx="7197159" cy="8229600"/>
          </a:xfrm>
          <a:custGeom>
            <a:avLst/>
            <a:gdLst/>
            <a:ahLst/>
            <a:cxnLst/>
            <a:rect r="r" b="b" t="t" l="l"/>
            <a:pathLst>
              <a:path h="8229600" w="7197159">
                <a:moveTo>
                  <a:pt x="0" y="8229600"/>
                </a:moveTo>
                <a:lnTo>
                  <a:pt x="7197159" y="8229600"/>
                </a:lnTo>
                <a:lnTo>
                  <a:pt x="7197159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591267" y="1576385"/>
            <a:ext cx="7390532" cy="4016123"/>
            <a:chOff x="0" y="0"/>
            <a:chExt cx="9854043" cy="535483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54043" cy="5354831"/>
            </a:xfrm>
            <a:custGeom>
              <a:avLst/>
              <a:gdLst/>
              <a:ahLst/>
              <a:cxnLst/>
              <a:rect r="r" b="b" t="t" l="l"/>
              <a:pathLst>
                <a:path h="5354831" w="9854043">
                  <a:moveTo>
                    <a:pt x="0" y="0"/>
                  </a:moveTo>
                  <a:lnTo>
                    <a:pt x="9854043" y="0"/>
                  </a:lnTo>
                  <a:lnTo>
                    <a:pt x="9854043" y="5354831"/>
                  </a:lnTo>
                  <a:lnTo>
                    <a:pt x="0" y="53548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 rot="0">
              <a:off x="6608180" y="2101286"/>
              <a:ext cx="2506266" cy="448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28"/>
                </a:lnSpc>
                <a:spcBef>
                  <a:spcPct val="0"/>
                </a:spcBef>
              </a:pPr>
              <a:r>
                <a:rPr lang="en-US" b="true" sz="194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Maxwell stress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714032" y="303356"/>
            <a:ext cx="13707087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: DIELECTRIC ELASTOMERS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5740" y="2048382"/>
            <a:ext cx="9357575" cy="137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Large deformations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Efficient Electromechanical coupling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Soft, flexible &amp; lightweight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40" y="7932520"/>
            <a:ext cx="4377776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i="true" u="sng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Applications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5740" y="8756813"/>
            <a:ext cx="13576164" cy="91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Actuators • Sensors • Energy Harvesters • Haptic Devices • Acoustic Transducers • Pneumatic Valves • Wearable Systems • Power Generators • Soft Robotics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0006" y="1218685"/>
            <a:ext cx="3887171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i="true" u="sng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Properties 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099472" y="4037297"/>
            <a:ext cx="5044528" cy="3776646"/>
            <a:chOff x="0" y="0"/>
            <a:chExt cx="6726037" cy="5035528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726037" cy="5035528"/>
              <a:chOff x="0" y="0"/>
              <a:chExt cx="559799" cy="4191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59799" cy="419100"/>
              </a:xfrm>
              <a:custGeom>
                <a:avLst/>
                <a:gdLst/>
                <a:ahLst/>
                <a:cxnLst/>
                <a:rect r="r" b="b" t="t" l="l"/>
                <a:pathLst>
                  <a:path h="419100" w="559799">
                    <a:moveTo>
                      <a:pt x="28115" y="0"/>
                    </a:moveTo>
                    <a:lnTo>
                      <a:pt x="531684" y="0"/>
                    </a:lnTo>
                    <a:cubicBezTo>
                      <a:pt x="539141" y="0"/>
                      <a:pt x="546292" y="2962"/>
                      <a:pt x="551564" y="8235"/>
                    </a:cubicBezTo>
                    <a:cubicBezTo>
                      <a:pt x="556837" y="13507"/>
                      <a:pt x="559799" y="20658"/>
                      <a:pt x="559799" y="28115"/>
                    </a:cubicBezTo>
                    <a:lnTo>
                      <a:pt x="559799" y="390985"/>
                    </a:lnTo>
                    <a:cubicBezTo>
                      <a:pt x="559799" y="398442"/>
                      <a:pt x="556837" y="405593"/>
                      <a:pt x="551564" y="410865"/>
                    </a:cubicBezTo>
                    <a:cubicBezTo>
                      <a:pt x="546292" y="416138"/>
                      <a:pt x="539141" y="419100"/>
                      <a:pt x="531684" y="419100"/>
                    </a:cubicBezTo>
                    <a:lnTo>
                      <a:pt x="28115" y="419100"/>
                    </a:lnTo>
                    <a:cubicBezTo>
                      <a:pt x="20658" y="419100"/>
                      <a:pt x="13507" y="416138"/>
                      <a:pt x="8235" y="410865"/>
                    </a:cubicBezTo>
                    <a:cubicBezTo>
                      <a:pt x="2962" y="405593"/>
                      <a:pt x="0" y="398442"/>
                      <a:pt x="0" y="390985"/>
                    </a:cubicBezTo>
                    <a:lnTo>
                      <a:pt x="0" y="28115"/>
                    </a:lnTo>
                    <a:cubicBezTo>
                      <a:pt x="0" y="20658"/>
                      <a:pt x="2962" y="13507"/>
                      <a:pt x="8235" y="8235"/>
                    </a:cubicBezTo>
                    <a:cubicBezTo>
                      <a:pt x="13507" y="2962"/>
                      <a:pt x="20658" y="0"/>
                      <a:pt x="28115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559799" cy="485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63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85077" y="195781"/>
              <a:ext cx="6355883" cy="45677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At excessive thinning  excessive electric field</a:t>
              </a:r>
            </a:p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further thinning  </a:t>
              </a:r>
            </a:p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↓</a:t>
              </a:r>
            </a:p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Positive Feedback Loop </a:t>
              </a:r>
            </a:p>
            <a:p>
              <a:pPr algn="ctr">
                <a:lnSpc>
                  <a:spcPts val="3414"/>
                </a:lnSpc>
              </a:pPr>
              <a:r>
                <a:rPr lang="en-US" sz="24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↓</a:t>
              </a:r>
            </a:p>
            <a:p>
              <a:pPr algn="ctr">
                <a:lnSpc>
                  <a:spcPts val="3414"/>
                </a:lnSpc>
              </a:pPr>
              <a:r>
                <a:rPr lang="en-US" b="true" sz="243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EMI </a:t>
              </a:r>
              <a:r>
                <a:rPr lang="en-US" sz="243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→ rapid unstable thinning → </a:t>
              </a:r>
              <a:r>
                <a:rPr lang="en-US" b="true" sz="2438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electrical breakdown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20006" y="4802188"/>
            <a:ext cx="3328093" cy="6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b="true" sz="3500" i="true" u="sng">
                <a:solidFill>
                  <a:srgbClr val="00000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Challenege 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6294" y="312798"/>
            <a:ext cx="1280729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SIGNIFICANCE OF PRE-STRETCH 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953249" y="4940976"/>
            <a:ext cx="5102531" cy="3836008"/>
          </a:xfrm>
          <a:custGeom>
            <a:avLst/>
            <a:gdLst/>
            <a:ahLst/>
            <a:cxnLst/>
            <a:rect r="r" b="b" t="t" l="l"/>
            <a:pathLst>
              <a:path h="3836008" w="5102531">
                <a:moveTo>
                  <a:pt x="0" y="0"/>
                </a:moveTo>
                <a:lnTo>
                  <a:pt x="5102531" y="0"/>
                </a:lnTo>
                <a:lnTo>
                  <a:pt x="5102531" y="3836008"/>
                </a:lnTo>
                <a:lnTo>
                  <a:pt x="0" y="3836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9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8740" y="1275634"/>
            <a:ext cx="11680110" cy="3775068"/>
          </a:xfrm>
          <a:custGeom>
            <a:avLst/>
            <a:gdLst/>
            <a:ahLst/>
            <a:cxnLst/>
            <a:rect r="r" b="b" t="t" l="l"/>
            <a:pathLst>
              <a:path h="3775068" w="11680110">
                <a:moveTo>
                  <a:pt x="0" y="0"/>
                </a:moveTo>
                <a:lnTo>
                  <a:pt x="11680110" y="0"/>
                </a:lnTo>
                <a:lnTo>
                  <a:pt x="11680110" y="3775068"/>
                </a:lnTo>
                <a:lnTo>
                  <a:pt x="0" y="37750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446" r="0" b="-103482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18740" y="5050702"/>
            <a:ext cx="6224192" cy="3726282"/>
          </a:xfrm>
          <a:custGeom>
            <a:avLst/>
            <a:gdLst/>
            <a:ahLst/>
            <a:cxnLst/>
            <a:rect r="r" b="b" t="t" l="l"/>
            <a:pathLst>
              <a:path h="3726282" w="6224192">
                <a:moveTo>
                  <a:pt x="0" y="0"/>
                </a:moveTo>
                <a:lnTo>
                  <a:pt x="6224192" y="0"/>
                </a:lnTo>
                <a:lnTo>
                  <a:pt x="6224192" y="3726282"/>
                </a:lnTo>
                <a:lnTo>
                  <a:pt x="0" y="37262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111" t="-100033" r="-38097" b="-225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619565" y="5580484"/>
            <a:ext cx="1095126" cy="533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1"/>
              </a:lnSpc>
            </a:pPr>
            <a:r>
              <a:rPr lang="en-US" sz="15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Equi-biaxial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024" y="9011837"/>
            <a:ext cx="14567073" cy="40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0"/>
              </a:lnSpc>
            </a:pPr>
            <a:r>
              <a:rPr lang="en-US" sz="233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Actuation Ratio v/s Voltage at different pre-stretches &amp; different stretching modes.</a:t>
            </a:r>
            <a:r>
              <a:rPr lang="en-US" sz="2335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[4.],[5.]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47801" y="4024047"/>
            <a:ext cx="5447099" cy="182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Strain Stiffening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Suppresses EMI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Greater Actuation Range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Lower Voltage requirements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3602" y="1214998"/>
            <a:ext cx="7814260" cy="3224266"/>
          </a:xfrm>
          <a:custGeom>
            <a:avLst/>
            <a:gdLst/>
            <a:ahLst/>
            <a:cxnLst/>
            <a:rect r="r" b="b" t="t" l="l"/>
            <a:pathLst>
              <a:path h="3224266" w="7814260">
                <a:moveTo>
                  <a:pt x="0" y="0"/>
                </a:moveTo>
                <a:lnTo>
                  <a:pt x="7814260" y="0"/>
                </a:lnTo>
                <a:lnTo>
                  <a:pt x="7814260" y="3224266"/>
                </a:lnTo>
                <a:lnTo>
                  <a:pt x="0" y="3224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8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0125" y="4486949"/>
            <a:ext cx="7881215" cy="3359695"/>
          </a:xfrm>
          <a:custGeom>
            <a:avLst/>
            <a:gdLst/>
            <a:ahLst/>
            <a:cxnLst/>
            <a:rect r="r" b="b" t="t" l="l"/>
            <a:pathLst>
              <a:path h="3359695" w="7881215">
                <a:moveTo>
                  <a:pt x="0" y="0"/>
                </a:moveTo>
                <a:lnTo>
                  <a:pt x="7881215" y="0"/>
                </a:lnTo>
                <a:lnTo>
                  <a:pt x="7881215" y="3359696"/>
                </a:lnTo>
                <a:lnTo>
                  <a:pt x="0" y="3359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764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39121" y="1217081"/>
            <a:ext cx="4604158" cy="6539736"/>
          </a:xfrm>
          <a:custGeom>
            <a:avLst/>
            <a:gdLst/>
            <a:ahLst/>
            <a:cxnLst/>
            <a:rect r="r" b="b" t="t" l="l"/>
            <a:pathLst>
              <a:path h="6539736" w="4604158">
                <a:moveTo>
                  <a:pt x="0" y="0"/>
                </a:moveTo>
                <a:lnTo>
                  <a:pt x="4604158" y="0"/>
                </a:lnTo>
                <a:lnTo>
                  <a:pt x="4604158" y="6539737"/>
                </a:lnTo>
                <a:lnTo>
                  <a:pt x="0" y="65397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3237" y="290195"/>
            <a:ext cx="1465004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MECHANISMS 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3237" y="7977380"/>
            <a:ext cx="10003999" cy="1863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Biaxial Planar Testing Device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with </a:t>
            </a: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Load Cell &amp; multi-turn potentiometer sensors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Has uni/biaxial mode selection switch and </a:t>
            </a:r>
            <a:r>
              <a:rPr lang="en-US" sz="2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computerised parametric selection</a:t>
            </a:r>
          </a:p>
          <a:p>
            <a:pPr algn="l">
              <a:lnSpc>
                <a:spcPts val="840"/>
              </a:lnSpc>
            </a:pPr>
            <a:r>
              <a:rPr lang="en-US" sz="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800"/>
              </a:lnSpc>
            </a:pPr>
            <a:r>
              <a:rPr lang="en-US" b="true" sz="20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 Uses Non-compliant Fixtures , changes Orientation absurdly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75455" y="7986905"/>
            <a:ext cx="7374796" cy="158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Dilshad Ahmad, Sujit Kumar Sahu, and Karali Patra (2019)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Fracture toughness, hysteresis and stretchability of dielectric elastomers under equibiaxial and biaxial loading.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Polymer Testing, Volume 79, 106038.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25068" y="6547838"/>
            <a:ext cx="232060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Traditional heavy setups for tensile stretching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596" y="1475737"/>
            <a:ext cx="5128372" cy="4210771"/>
          </a:xfrm>
          <a:custGeom>
            <a:avLst/>
            <a:gdLst/>
            <a:ahLst/>
            <a:cxnLst/>
            <a:rect r="r" b="b" t="t" l="l"/>
            <a:pathLst>
              <a:path h="4210771" w="5128372">
                <a:moveTo>
                  <a:pt x="0" y="0"/>
                </a:moveTo>
                <a:lnTo>
                  <a:pt x="5128372" y="0"/>
                </a:lnTo>
                <a:lnTo>
                  <a:pt x="5128372" y="4210771"/>
                </a:lnTo>
                <a:lnTo>
                  <a:pt x="0" y="4210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82168" y="1475737"/>
            <a:ext cx="3858663" cy="4210771"/>
          </a:xfrm>
          <a:custGeom>
            <a:avLst/>
            <a:gdLst/>
            <a:ahLst/>
            <a:cxnLst/>
            <a:rect r="r" b="b" t="t" l="l"/>
            <a:pathLst>
              <a:path h="4210771" w="3858663">
                <a:moveTo>
                  <a:pt x="0" y="0"/>
                </a:moveTo>
                <a:lnTo>
                  <a:pt x="3858663" y="0"/>
                </a:lnTo>
                <a:lnTo>
                  <a:pt x="3858663" y="4210771"/>
                </a:lnTo>
                <a:lnTo>
                  <a:pt x="0" y="42107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054" r="-397" b="-11819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90790" y="290195"/>
            <a:ext cx="1465004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MECHANISMS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5064" y="7598710"/>
            <a:ext cx="6083640" cy="97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82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Paul White, Stella Latscha, and Mark Yim (2014).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Modeling of a Dielectric Elastomer Bender Actuator.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Actuators, Volume 3, pp. 245–269.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35064" y="6077033"/>
            <a:ext cx="7885543" cy="1205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biaxial stretching device based on slider setup</a:t>
            </a:r>
          </a:p>
          <a:p>
            <a:pPr algn="l">
              <a:lnSpc>
                <a:spcPts val="1166"/>
              </a:lnSpc>
            </a:pPr>
          </a:p>
          <a:p>
            <a:pPr algn="l">
              <a:lnSpc>
                <a:spcPts val="2799"/>
              </a:lnSpc>
            </a:pPr>
            <a:r>
              <a:rPr lang="en-US" sz="1999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 Purely Manual, Uses Non-Compliant Fixtures, Orientation changes absurdly.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88285" y="6077033"/>
            <a:ext cx="8810581" cy="153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Semi-Automated equibiaxial pre-stretching roller-slider machine</a:t>
            </a:r>
          </a:p>
          <a:p>
            <a:pPr algn="l">
              <a:lnSpc>
                <a:spcPts val="886"/>
              </a:lnSpc>
            </a:pPr>
            <a:r>
              <a:rPr lang="en-US" sz="6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</a:p>
          <a:p>
            <a:pPr algn="l">
              <a:lnSpc>
                <a:spcPts val="2800"/>
              </a:lnSpc>
            </a:pPr>
            <a:r>
              <a:rPr lang="en-US" sz="2000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 Not fully automated, Uses Non-Compliant Fixtures, Orientation changes absurdly , user has to rely on physical distance markings to achieve desired stretch.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88285" y="7841214"/>
            <a:ext cx="9089048" cy="129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82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Yuanlin Guan, Ziyin Liu et. al. (2026).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Research on design of soft gripper by dielectric elastomer actuator based on quadrangular star honeycomb support.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PLOS ONE, Volume 21, Issue 7, e0352654..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2872" y="1294598"/>
            <a:ext cx="6487145" cy="4430847"/>
          </a:xfrm>
          <a:custGeom>
            <a:avLst/>
            <a:gdLst/>
            <a:ahLst/>
            <a:cxnLst/>
            <a:rect r="r" b="b" t="t" l="l"/>
            <a:pathLst>
              <a:path h="4430847" w="6487145">
                <a:moveTo>
                  <a:pt x="0" y="0"/>
                </a:moveTo>
                <a:lnTo>
                  <a:pt x="6487145" y="0"/>
                </a:lnTo>
                <a:lnTo>
                  <a:pt x="6487145" y="4430847"/>
                </a:lnTo>
                <a:lnTo>
                  <a:pt x="0" y="44308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185" t="0" r="-6352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16975" y="1294598"/>
            <a:ext cx="5753475" cy="4430847"/>
            <a:chOff x="0" y="0"/>
            <a:chExt cx="7671299" cy="59077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4401070" y="0"/>
              <a:ext cx="3270229" cy="3007057"/>
            </a:xfrm>
            <a:custGeom>
              <a:avLst/>
              <a:gdLst/>
              <a:ahLst/>
              <a:cxnLst/>
              <a:rect r="r" b="b" t="t" l="l"/>
              <a:pathLst>
                <a:path h="3007057" w="3270229">
                  <a:moveTo>
                    <a:pt x="0" y="0"/>
                  </a:moveTo>
                  <a:lnTo>
                    <a:pt x="3270229" y="0"/>
                  </a:lnTo>
                  <a:lnTo>
                    <a:pt x="3270229" y="3007057"/>
                  </a:lnTo>
                  <a:lnTo>
                    <a:pt x="0" y="3007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86315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294001"/>
              <a:ext cx="3992282" cy="5405201"/>
            </a:xfrm>
            <a:custGeom>
              <a:avLst/>
              <a:gdLst/>
              <a:ahLst/>
              <a:cxnLst/>
              <a:rect r="r" b="b" t="t" l="l"/>
              <a:pathLst>
                <a:path h="5405201" w="3992282">
                  <a:moveTo>
                    <a:pt x="0" y="0"/>
                  </a:moveTo>
                  <a:lnTo>
                    <a:pt x="3992282" y="0"/>
                  </a:lnTo>
                  <a:lnTo>
                    <a:pt x="3992282" y="5405201"/>
                  </a:lnTo>
                  <a:lnTo>
                    <a:pt x="0" y="5405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56" t="0" r="0" b="-2081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401070" y="2778588"/>
              <a:ext cx="3047386" cy="3129208"/>
            </a:xfrm>
            <a:custGeom>
              <a:avLst/>
              <a:gdLst/>
              <a:ahLst/>
              <a:cxnLst/>
              <a:rect r="r" b="b" t="t" l="l"/>
              <a:pathLst>
                <a:path h="3129208" w="3047386">
                  <a:moveTo>
                    <a:pt x="0" y="0"/>
                  </a:moveTo>
                  <a:lnTo>
                    <a:pt x="3047386" y="0"/>
                  </a:lnTo>
                  <a:lnTo>
                    <a:pt x="3047386" y="3129207"/>
                  </a:lnTo>
                  <a:lnTo>
                    <a:pt x="0" y="3129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8062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992282" y="0"/>
              <a:ext cx="1122588" cy="302921"/>
            </a:xfrm>
            <a:custGeom>
              <a:avLst/>
              <a:gdLst/>
              <a:ahLst/>
              <a:cxnLst/>
              <a:rect r="r" b="b" t="t" l="l"/>
              <a:pathLst>
                <a:path h="302921" w="1122588">
                  <a:moveTo>
                    <a:pt x="0" y="0"/>
                  </a:moveTo>
                  <a:lnTo>
                    <a:pt x="1122588" y="0"/>
                  </a:lnTo>
                  <a:lnTo>
                    <a:pt x="1122588" y="302921"/>
                  </a:lnTo>
                  <a:lnTo>
                    <a:pt x="0" y="3029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35064" y="290195"/>
            <a:ext cx="8117819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MECHANISMS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5064" y="7494408"/>
            <a:ext cx="5816238" cy="129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82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Luo Z. et al. (2024).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biaxial pre-stretching device and method for multi-shape dielectric elastomer samples.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Chinese Patent CN117825122B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5064" y="5993475"/>
            <a:ext cx="7885543" cy="1224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Manual biaxial stretching device based on roller slider setup</a:t>
            </a:r>
          </a:p>
          <a:p>
            <a:pPr algn="l">
              <a:lnSpc>
                <a:spcPts val="1306"/>
              </a:lnSpc>
            </a:pPr>
          </a:p>
          <a:p>
            <a:pPr algn="l">
              <a:lnSpc>
                <a:spcPts val="2846"/>
              </a:lnSpc>
            </a:pPr>
            <a:r>
              <a:rPr lang="en-US" sz="2033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 Purely Manual, Uses Non-Compliant Fixtures, Orientation changes absurdly.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46250" y="5993475"/>
            <a:ext cx="8294510" cy="1533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Vacuum based Biaxial </a:t>
            </a:r>
            <a:r>
              <a:rPr lang="en-US" sz="203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Cell</a:t>
            </a:r>
            <a:r>
              <a:rPr lang="en-US" sz="20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stretcher  </a:t>
            </a:r>
          </a:p>
          <a:p>
            <a:pPr algn="l">
              <a:lnSpc>
                <a:spcPts val="886"/>
              </a:lnSpc>
            </a:pPr>
          </a:p>
          <a:p>
            <a:pPr algn="l">
              <a:lnSpc>
                <a:spcPts val="2846"/>
              </a:lnSpc>
            </a:pPr>
            <a:r>
              <a:rPr lang="en-US" sz="2033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 Needs constant power supply to keep it stretcehd, No mechanical lock, Orientation changes absurdly, Cannot give unequal biaxial stretch, Non uniform stretching.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46250" y="7818258"/>
            <a:ext cx="8537402" cy="97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82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Jue Wang, Aritra Chatterjee et. al. (2024).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Pneumatic Non-Equibiaxial Cell Stretching Device With Live-Cell Imaging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IEEE Transactions on Biomedical Engineering, 71(3), 820–830.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326" y="1353990"/>
            <a:ext cx="5572908" cy="4193971"/>
          </a:xfrm>
          <a:custGeom>
            <a:avLst/>
            <a:gdLst/>
            <a:ahLst/>
            <a:cxnLst/>
            <a:rect r="r" b="b" t="t" l="l"/>
            <a:pathLst>
              <a:path h="4193971" w="5572908">
                <a:moveTo>
                  <a:pt x="0" y="0"/>
                </a:moveTo>
                <a:lnTo>
                  <a:pt x="5572909" y="0"/>
                </a:lnTo>
                <a:lnTo>
                  <a:pt x="5572909" y="4193970"/>
                </a:lnTo>
                <a:lnTo>
                  <a:pt x="0" y="4193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093706" y="1353990"/>
            <a:ext cx="10715824" cy="4193971"/>
            <a:chOff x="0" y="0"/>
            <a:chExt cx="14287766" cy="559196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76820" cy="5591961"/>
            </a:xfrm>
            <a:custGeom>
              <a:avLst/>
              <a:gdLst/>
              <a:ahLst/>
              <a:cxnLst/>
              <a:rect r="r" b="b" t="t" l="l"/>
              <a:pathLst>
                <a:path h="5591961" w="9676820">
                  <a:moveTo>
                    <a:pt x="0" y="0"/>
                  </a:moveTo>
                  <a:lnTo>
                    <a:pt x="9676820" y="0"/>
                  </a:lnTo>
                  <a:lnTo>
                    <a:pt x="9676820" y="5591961"/>
                  </a:lnTo>
                  <a:lnTo>
                    <a:pt x="0" y="55919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600" r="-78243" b="-560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9907519" y="128137"/>
              <a:ext cx="4380246" cy="4592823"/>
            </a:xfrm>
            <a:custGeom>
              <a:avLst/>
              <a:gdLst/>
              <a:ahLst/>
              <a:cxnLst/>
              <a:rect r="r" b="b" t="t" l="l"/>
              <a:pathLst>
                <a:path h="4592823" w="4380246">
                  <a:moveTo>
                    <a:pt x="0" y="0"/>
                  </a:moveTo>
                  <a:lnTo>
                    <a:pt x="4380247" y="0"/>
                  </a:lnTo>
                  <a:lnTo>
                    <a:pt x="4380247" y="4592823"/>
                  </a:lnTo>
                  <a:lnTo>
                    <a:pt x="0" y="4592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89416" t="0" r="-1421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412724" y="290195"/>
            <a:ext cx="1465004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MECHANISMS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5277" y="7392369"/>
            <a:ext cx="6859568" cy="129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82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Sze-Hsien Low and Gih-Keong Lau (2014).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Bi-axially crumpled silver thin-film electrodes for dielectric elastomer actuators.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Smart Materials and Structures, Volume 23, Issue 12, 125021.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5277" y="6054948"/>
            <a:ext cx="6438429" cy="82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Clips based Radial stretcher </a:t>
            </a:r>
          </a:p>
          <a:p>
            <a:pPr algn="l">
              <a:lnSpc>
                <a:spcPts val="886"/>
              </a:lnSpc>
            </a:pPr>
          </a:p>
          <a:p>
            <a:pPr algn="l">
              <a:lnSpc>
                <a:spcPts val="2846"/>
              </a:lnSpc>
            </a:pPr>
            <a:r>
              <a:rPr lang="en-US" sz="2033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 Semi-automatic , manual locking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091803" y="6054948"/>
            <a:ext cx="8294510" cy="823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6"/>
              </a:lnSpc>
            </a:pPr>
            <a:r>
              <a:rPr lang="en-US" sz="20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Radial Stretcher with Camera based Feedback</a:t>
            </a:r>
          </a:p>
          <a:p>
            <a:pPr algn="l">
              <a:lnSpc>
                <a:spcPts val="886"/>
              </a:lnSpc>
            </a:pPr>
          </a:p>
          <a:p>
            <a:pPr algn="l">
              <a:lnSpc>
                <a:spcPts val="2846"/>
              </a:lnSpc>
            </a:pPr>
            <a:r>
              <a:rPr lang="en-US" sz="2033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Paper not informative enough to conclude limitations.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091803" y="7392369"/>
            <a:ext cx="8247322" cy="129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82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Simon Holzer, Bhawnath Tiwari et. al. (2025).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and Characterization of an Equibiaxial Multi-Electrode Dielectric Elastomer Actuator.</a:t>
            </a:r>
          </a:p>
          <a:p>
            <a:pPr algn="l">
              <a:lnSpc>
                <a:spcPts val="2553"/>
              </a:lnSpc>
            </a:pPr>
            <a:r>
              <a:rPr lang="en-US" sz="182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Materials, Volume 18, 1693.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7742" y="1553121"/>
            <a:ext cx="5767904" cy="4362391"/>
          </a:xfrm>
          <a:custGeom>
            <a:avLst/>
            <a:gdLst/>
            <a:ahLst/>
            <a:cxnLst/>
            <a:rect r="r" b="b" t="t" l="l"/>
            <a:pathLst>
              <a:path h="4362391" w="5767904">
                <a:moveTo>
                  <a:pt x="0" y="0"/>
                </a:moveTo>
                <a:lnTo>
                  <a:pt x="5767904" y="0"/>
                </a:lnTo>
                <a:lnTo>
                  <a:pt x="5767904" y="4362391"/>
                </a:lnTo>
                <a:lnTo>
                  <a:pt x="0" y="43623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5964" y="290195"/>
            <a:ext cx="7872308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20"/>
              </a:lnSpc>
              <a:spcBef>
                <a:spcPct val="0"/>
              </a:spcBef>
            </a:pPr>
            <a:r>
              <a:rPr lang="en-US" sz="4300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EXISTING MECHANISMS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10984" y="1486446"/>
            <a:ext cx="7154397" cy="2356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0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Fully </a:t>
            </a:r>
            <a:r>
              <a:rPr lang="en-US" sz="20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Radial Stretching Mechanism with self-locking and direct user input. </a:t>
            </a:r>
          </a:p>
          <a:p>
            <a:pPr algn="l">
              <a:lnSpc>
                <a:spcPts val="1376"/>
              </a:lnSpc>
            </a:pPr>
            <a:r>
              <a:rPr lang="en-US" sz="9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2916"/>
              </a:lnSpc>
            </a:pPr>
            <a:r>
              <a:rPr lang="en-US" sz="2083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Ref.</a:t>
            </a:r>
            <a:r>
              <a:rPr lang="en-US" sz="20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SMILE Lab IITI (2025)</a:t>
            </a:r>
          </a:p>
          <a:p>
            <a:pPr algn="l">
              <a:lnSpc>
                <a:spcPts val="2916"/>
              </a:lnSpc>
            </a:pPr>
            <a:r>
              <a:rPr lang="en-US" sz="20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and Development of an Automated Radial Stretching Mechanism for Elastomeric Membrane.</a:t>
            </a:r>
          </a:p>
          <a:p>
            <a:pPr algn="l">
              <a:lnSpc>
                <a:spcPts val="2916"/>
              </a:lnSpc>
            </a:pPr>
            <a:r>
              <a:rPr lang="en-US" sz="20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B.Tech. Project Report, IIT Indore, 2025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73476" y="6891761"/>
            <a:ext cx="14541049" cy="2169187"/>
            <a:chOff x="0" y="0"/>
            <a:chExt cx="19388065" cy="289224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9388065" cy="2892249"/>
              <a:chOff x="0" y="0"/>
              <a:chExt cx="2360205" cy="35208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2360205" cy="352088"/>
              </a:xfrm>
              <a:custGeom>
                <a:avLst/>
                <a:gdLst/>
                <a:ahLst/>
                <a:cxnLst/>
                <a:rect r="r" b="b" t="t" l="l"/>
                <a:pathLst>
                  <a:path h="352088" w="2360205">
                    <a:moveTo>
                      <a:pt x="10399" y="0"/>
                    </a:moveTo>
                    <a:lnTo>
                      <a:pt x="2349807" y="0"/>
                    </a:lnTo>
                    <a:cubicBezTo>
                      <a:pt x="2355550" y="0"/>
                      <a:pt x="2360205" y="4656"/>
                      <a:pt x="2360205" y="10399"/>
                    </a:cubicBezTo>
                    <a:lnTo>
                      <a:pt x="2360205" y="341689"/>
                    </a:lnTo>
                    <a:cubicBezTo>
                      <a:pt x="2360205" y="344447"/>
                      <a:pt x="2359110" y="347092"/>
                      <a:pt x="2357160" y="349042"/>
                    </a:cubicBezTo>
                    <a:cubicBezTo>
                      <a:pt x="2355210" y="350992"/>
                      <a:pt x="2352565" y="352088"/>
                      <a:pt x="2349807" y="352088"/>
                    </a:cubicBezTo>
                    <a:lnTo>
                      <a:pt x="10399" y="352088"/>
                    </a:lnTo>
                    <a:cubicBezTo>
                      <a:pt x="7641" y="352088"/>
                      <a:pt x="4996" y="350992"/>
                      <a:pt x="3046" y="349042"/>
                    </a:cubicBezTo>
                    <a:cubicBezTo>
                      <a:pt x="1096" y="347092"/>
                      <a:pt x="0" y="344447"/>
                      <a:pt x="0" y="341689"/>
                    </a:cubicBezTo>
                    <a:lnTo>
                      <a:pt x="0" y="10399"/>
                    </a:lnTo>
                    <a:cubicBezTo>
                      <a:pt x="0" y="7641"/>
                      <a:pt x="1096" y="4996"/>
                      <a:pt x="3046" y="3046"/>
                    </a:cubicBezTo>
                    <a:cubicBezTo>
                      <a:pt x="4996" y="1096"/>
                      <a:pt x="7641" y="0"/>
                      <a:pt x="10399" y="0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57150"/>
                <a:ext cx="2360205" cy="40923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566296" y="260900"/>
              <a:ext cx="18821769" cy="21175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11"/>
                </a:lnSpc>
              </a:pPr>
              <a:r>
                <a:rPr lang="en-US" sz="300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Manual</a:t>
              </a:r>
              <a:r>
                <a:rPr lang="en-US" sz="300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→ Motorized Testing Mechanisms → Feedback-Assisted </a:t>
              </a:r>
            </a:p>
            <a:p>
              <a:pPr algn="l">
                <a:lnSpc>
                  <a:spcPts val="4211"/>
                </a:lnSpc>
              </a:pPr>
              <a:r>
                <a:rPr lang="en-US" sz="3008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→ Semi-Automated Biaxial Stretching → Fully Automated Radial Stretching → Towards Fully Automated X–Y Biaxial Stretching Mechanism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7673" y="2671278"/>
            <a:ext cx="15621436" cy="6174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Design Features :-</a:t>
            </a:r>
          </a:p>
          <a:p>
            <a:pPr algn="l">
              <a:lnSpc>
                <a:spcPts val="3681"/>
              </a:lnSpc>
            </a:pP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Motorized actuation with controlled feedback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Automated positioning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Independent X–Y biaxial stretch control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 U</a:t>
            </a: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ser-defined stretch ratios as input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Easy-to-operate Screen Menu with simple buttons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Compact and integrated mechanism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Reliable longer duration pre-stretch self locking without unnecessary power consumption 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Low-cost fabrication using 3D-printed components and electronics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Compliant fixtures that keep the orientation of DE intact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Unifrom Stretching &amp; Repeatability</a:t>
            </a:r>
          </a:p>
          <a:p>
            <a:pPr algn="l" marL="567769" indent="-283884" lvl="1">
              <a:lnSpc>
                <a:spcPts val="3681"/>
              </a:lnSpc>
              <a:buFont typeface="Arial"/>
              <a:buChar char="•"/>
            </a:pPr>
            <a:r>
              <a:rPr lang="en-US" sz="262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Stretch-ratio resolution of 0.01x of original dimensions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084" y="314227"/>
            <a:ext cx="1411070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 :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6084" y="1360501"/>
            <a:ext cx="16527051" cy="561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1"/>
              </a:lnSpc>
            </a:pPr>
            <a:r>
              <a:rPr lang="en-US" sz="315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 develop a fully automated biaxial stretching mechanism for DE.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16465" y="6660990"/>
            <a:ext cx="7691935" cy="3023966"/>
            <a:chOff x="0" y="0"/>
            <a:chExt cx="2025859" cy="7964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5859" cy="796435"/>
            </a:xfrm>
            <a:custGeom>
              <a:avLst/>
              <a:gdLst/>
              <a:ahLst/>
              <a:cxnLst/>
              <a:rect r="r" b="b" t="t" l="l"/>
              <a:pathLst>
                <a:path h="796435" w="2025859">
                  <a:moveTo>
                    <a:pt x="51331" y="0"/>
                  </a:moveTo>
                  <a:lnTo>
                    <a:pt x="1974528" y="0"/>
                  </a:lnTo>
                  <a:cubicBezTo>
                    <a:pt x="2002877" y="0"/>
                    <a:pt x="2025859" y="22982"/>
                    <a:pt x="2025859" y="51331"/>
                  </a:cubicBezTo>
                  <a:lnTo>
                    <a:pt x="2025859" y="745104"/>
                  </a:lnTo>
                  <a:cubicBezTo>
                    <a:pt x="2025859" y="773454"/>
                    <a:pt x="2002877" y="796435"/>
                    <a:pt x="1974528" y="796435"/>
                  </a:cubicBezTo>
                  <a:lnTo>
                    <a:pt x="51331" y="796435"/>
                  </a:lnTo>
                  <a:cubicBezTo>
                    <a:pt x="37717" y="796435"/>
                    <a:pt x="24661" y="791027"/>
                    <a:pt x="15035" y="781401"/>
                  </a:cubicBezTo>
                  <a:cubicBezTo>
                    <a:pt x="5408" y="771774"/>
                    <a:pt x="0" y="758718"/>
                    <a:pt x="0" y="745104"/>
                  </a:cubicBezTo>
                  <a:lnTo>
                    <a:pt x="0" y="51331"/>
                  </a:lnTo>
                  <a:cubicBezTo>
                    <a:pt x="0" y="37717"/>
                    <a:pt x="5408" y="24661"/>
                    <a:pt x="15035" y="15035"/>
                  </a:cubicBezTo>
                  <a:cubicBezTo>
                    <a:pt x="24661" y="5408"/>
                    <a:pt x="37717" y="0"/>
                    <a:pt x="51331" y="0"/>
                  </a:cubicBezTo>
                  <a:close/>
                </a:path>
              </a:pathLst>
            </a:custGeom>
            <a:solidFill>
              <a:srgbClr val="C1FF7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025859" cy="853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6084" y="1397783"/>
            <a:ext cx="8986985" cy="4795608"/>
            <a:chOff x="0" y="0"/>
            <a:chExt cx="2366943" cy="12630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66943" cy="1263041"/>
            </a:xfrm>
            <a:custGeom>
              <a:avLst/>
              <a:gdLst/>
              <a:ahLst/>
              <a:cxnLst/>
              <a:rect r="r" b="b" t="t" l="l"/>
              <a:pathLst>
                <a:path h="1263041" w="2366943">
                  <a:moveTo>
                    <a:pt x="43934" y="0"/>
                  </a:moveTo>
                  <a:lnTo>
                    <a:pt x="2323008" y="0"/>
                  </a:lnTo>
                  <a:cubicBezTo>
                    <a:pt x="2347273" y="0"/>
                    <a:pt x="2366943" y="19670"/>
                    <a:pt x="2366943" y="43934"/>
                  </a:cubicBezTo>
                  <a:lnTo>
                    <a:pt x="2366943" y="1219106"/>
                  </a:lnTo>
                  <a:cubicBezTo>
                    <a:pt x="2366943" y="1230759"/>
                    <a:pt x="2362314" y="1241933"/>
                    <a:pt x="2354075" y="1250173"/>
                  </a:cubicBezTo>
                  <a:cubicBezTo>
                    <a:pt x="2345835" y="1258412"/>
                    <a:pt x="2334660" y="1263041"/>
                    <a:pt x="2323008" y="1263041"/>
                  </a:cubicBezTo>
                  <a:lnTo>
                    <a:pt x="43934" y="1263041"/>
                  </a:lnTo>
                  <a:cubicBezTo>
                    <a:pt x="32282" y="1263041"/>
                    <a:pt x="21107" y="1258412"/>
                    <a:pt x="12868" y="1250173"/>
                  </a:cubicBezTo>
                  <a:cubicBezTo>
                    <a:pt x="4629" y="1241933"/>
                    <a:pt x="0" y="1230759"/>
                    <a:pt x="0" y="1219106"/>
                  </a:cubicBezTo>
                  <a:lnTo>
                    <a:pt x="0" y="43934"/>
                  </a:lnTo>
                  <a:cubicBezTo>
                    <a:pt x="0" y="32282"/>
                    <a:pt x="4629" y="21107"/>
                    <a:pt x="12868" y="12868"/>
                  </a:cubicBezTo>
                  <a:cubicBezTo>
                    <a:pt x="21107" y="4629"/>
                    <a:pt x="32282" y="0"/>
                    <a:pt x="43934" y="0"/>
                  </a:cubicBezTo>
                  <a:close/>
                </a:path>
              </a:pathLst>
            </a:custGeom>
            <a:solidFill>
              <a:srgbClr val="FFC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366943" cy="13201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88163" y="1570089"/>
            <a:ext cx="8484979" cy="422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1"/>
              </a:lnSpc>
            </a:pPr>
            <a:r>
              <a:rPr lang="en-US" sz="2208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DESIGN :</a:t>
            </a:r>
          </a:p>
          <a:p>
            <a:pPr algn="l">
              <a:lnSpc>
                <a:spcPts val="3091"/>
              </a:lnSpc>
            </a:pPr>
          </a:p>
          <a:p>
            <a:pPr algn="l" marL="476759" indent="-238380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idea &amp; Parts measurements</a:t>
            </a:r>
          </a:p>
          <a:p>
            <a:pPr algn="l">
              <a:lnSpc>
                <a:spcPts val="3091"/>
              </a:lnSpc>
            </a:pPr>
          </a:p>
          <a:p>
            <a:pPr algn="l" marL="476759" indent="-238380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3D-modelling of all the components in Autodesk Fusion</a:t>
            </a:r>
          </a:p>
          <a:p>
            <a:pPr algn="l">
              <a:lnSpc>
                <a:spcPts val="3091"/>
              </a:lnSpc>
            </a:pPr>
          </a:p>
          <a:p>
            <a:pPr algn="l" marL="476759" indent="-238380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Assembly of parts &amp; motion simulation in Fusion</a:t>
            </a:r>
          </a:p>
          <a:p>
            <a:pPr algn="l">
              <a:lnSpc>
                <a:spcPts val="3091"/>
              </a:lnSpc>
            </a:pPr>
          </a:p>
          <a:p>
            <a:pPr algn="l" marL="476759" indent="-238380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Tolarences testing &amp; Design corrections</a:t>
            </a:r>
          </a:p>
          <a:p>
            <a:pPr algn="l">
              <a:lnSpc>
                <a:spcPts val="3091"/>
              </a:lnSpc>
            </a:pPr>
          </a:p>
          <a:p>
            <a:pPr algn="l" marL="476759" indent="-238380" lvl="1">
              <a:lnSpc>
                <a:spcPts val="3091"/>
              </a:lnSpc>
              <a:buFont typeface="Arial"/>
              <a:buChar char="•"/>
            </a:pPr>
            <a:r>
              <a:rPr lang="en-US" sz="220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3D printing of the complete parts to check functionality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141432" y="4453094"/>
            <a:ext cx="650535" cy="690406"/>
          </a:xfrm>
          <a:custGeom>
            <a:avLst/>
            <a:gdLst/>
            <a:ahLst/>
            <a:cxnLst/>
            <a:rect r="r" b="b" t="t" l="l"/>
            <a:pathLst>
              <a:path h="690406" w="650535">
                <a:moveTo>
                  <a:pt x="0" y="0"/>
                </a:moveTo>
                <a:lnTo>
                  <a:pt x="650535" y="0"/>
                </a:lnTo>
                <a:lnTo>
                  <a:pt x="650535" y="690406"/>
                </a:lnTo>
                <a:lnTo>
                  <a:pt x="0" y="690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4" t="0" r="-58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76084" y="314227"/>
            <a:ext cx="1411070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 DONE  :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58633" y="1397783"/>
            <a:ext cx="7282002" cy="4155209"/>
            <a:chOff x="0" y="0"/>
            <a:chExt cx="1917893" cy="1094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17893" cy="1094376"/>
            </a:xfrm>
            <a:custGeom>
              <a:avLst/>
              <a:gdLst/>
              <a:ahLst/>
              <a:cxnLst/>
              <a:rect r="r" b="b" t="t" l="l"/>
              <a:pathLst>
                <a:path h="1094376" w="1917893">
                  <a:moveTo>
                    <a:pt x="54221" y="0"/>
                  </a:moveTo>
                  <a:lnTo>
                    <a:pt x="1863672" y="0"/>
                  </a:lnTo>
                  <a:cubicBezTo>
                    <a:pt x="1893618" y="0"/>
                    <a:pt x="1917893" y="24276"/>
                    <a:pt x="1917893" y="54221"/>
                  </a:cubicBezTo>
                  <a:lnTo>
                    <a:pt x="1917893" y="1040155"/>
                  </a:lnTo>
                  <a:cubicBezTo>
                    <a:pt x="1917893" y="1070101"/>
                    <a:pt x="1893618" y="1094376"/>
                    <a:pt x="1863672" y="1094376"/>
                  </a:cubicBezTo>
                  <a:lnTo>
                    <a:pt x="54221" y="1094376"/>
                  </a:lnTo>
                  <a:cubicBezTo>
                    <a:pt x="24276" y="1094376"/>
                    <a:pt x="0" y="1070101"/>
                    <a:pt x="0" y="1040155"/>
                  </a:cubicBezTo>
                  <a:lnTo>
                    <a:pt x="0" y="54221"/>
                  </a:lnTo>
                  <a:cubicBezTo>
                    <a:pt x="0" y="24276"/>
                    <a:pt x="24276" y="0"/>
                    <a:pt x="54221" y="0"/>
                  </a:cubicBezTo>
                  <a:close/>
                </a:path>
              </a:pathLst>
            </a:custGeom>
            <a:solidFill>
              <a:srgbClr val="EABCA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17893" cy="11515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695363" y="1570089"/>
            <a:ext cx="6846280" cy="367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309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HARDWARE :</a:t>
            </a:r>
          </a:p>
          <a:p>
            <a:pPr algn="l">
              <a:lnSpc>
                <a:spcPts val="3232"/>
              </a:lnSpc>
            </a:pPr>
          </a:p>
          <a:p>
            <a:pPr algn="l" marL="498553" indent="-249276" lvl="1">
              <a:lnSpc>
                <a:spcPts val="3232"/>
              </a:lnSpc>
              <a:buFont typeface="Arial"/>
              <a:buChar char="•"/>
            </a:pPr>
            <a:r>
              <a:rPr lang="en-US" sz="23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Understanding the Hardware requirements</a:t>
            </a:r>
          </a:p>
          <a:p>
            <a:pPr algn="l">
              <a:lnSpc>
                <a:spcPts val="3232"/>
              </a:lnSpc>
            </a:pPr>
          </a:p>
          <a:p>
            <a:pPr algn="l" marL="498553" indent="-249276" lvl="1">
              <a:lnSpc>
                <a:spcPts val="3232"/>
              </a:lnSpc>
              <a:buFont typeface="Arial"/>
              <a:buChar char="•"/>
            </a:pPr>
            <a:r>
              <a:rPr lang="en-US" sz="23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Finalising the electronic components </a:t>
            </a:r>
          </a:p>
          <a:p>
            <a:pPr algn="l">
              <a:lnSpc>
                <a:spcPts val="3232"/>
              </a:lnSpc>
            </a:pPr>
          </a:p>
          <a:p>
            <a:pPr algn="l" marL="498553" indent="-249276" lvl="1">
              <a:lnSpc>
                <a:spcPts val="3232"/>
              </a:lnSpc>
              <a:buFont typeface="Arial"/>
              <a:buChar char="•"/>
            </a:pPr>
            <a:r>
              <a:rPr lang="en-US" sz="23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Planning the signal flow</a:t>
            </a:r>
          </a:p>
          <a:p>
            <a:pPr algn="l">
              <a:lnSpc>
                <a:spcPts val="3232"/>
              </a:lnSpc>
            </a:pPr>
          </a:p>
          <a:p>
            <a:pPr algn="l" marL="498553" indent="-249276" lvl="1">
              <a:lnSpc>
                <a:spcPts val="3232"/>
              </a:lnSpc>
              <a:buFont typeface="Arial"/>
              <a:buChar char="•"/>
            </a:pPr>
            <a:r>
              <a:rPr lang="en-US" sz="230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Plotting the Final Circuit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53614" y="6841814"/>
            <a:ext cx="7454787" cy="255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4"/>
              </a:lnSpc>
            </a:pPr>
            <a:r>
              <a:rPr lang="en-US" sz="2060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AUTOMATION :</a:t>
            </a:r>
          </a:p>
          <a:p>
            <a:pPr algn="l">
              <a:lnSpc>
                <a:spcPts val="2884"/>
              </a:lnSpc>
            </a:pPr>
          </a:p>
          <a:p>
            <a:pPr algn="l" marL="444906" indent="-222453" lvl="1">
              <a:lnSpc>
                <a:spcPts val="2884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Rough Arduino UNO code for UI, display &amp; buttons</a:t>
            </a:r>
          </a:p>
          <a:p>
            <a:pPr algn="l">
              <a:lnSpc>
                <a:spcPts val="2884"/>
              </a:lnSpc>
            </a:pPr>
          </a:p>
          <a:p>
            <a:pPr algn="l" marL="444906" indent="-222453" lvl="1">
              <a:lnSpc>
                <a:spcPts val="2884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Partial Arduino MEGA framework for motion control </a:t>
            </a:r>
          </a:p>
          <a:p>
            <a:pPr algn="l">
              <a:lnSpc>
                <a:spcPts val="2884"/>
              </a:lnSpc>
            </a:pPr>
          </a:p>
          <a:p>
            <a:pPr algn="l" marL="444906" indent="-222453" lvl="1">
              <a:lnSpc>
                <a:spcPts val="2884"/>
              </a:lnSpc>
              <a:buFont typeface="Arial"/>
              <a:buChar char="•"/>
            </a:pPr>
            <a:r>
              <a:rPr lang="en-US" sz="206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Established UNO &lt;--&gt; MEGA communication code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9437" t="2633" r="9800" b="0"/>
          <a:stretch>
            <a:fillRect/>
          </a:stretch>
        </p:blipFill>
        <p:spPr>
          <a:xfrm flipH="false" flipV="false" rot="0">
            <a:off x="476084" y="1253732"/>
            <a:ext cx="11404959" cy="832125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76084" y="314227"/>
            <a:ext cx="1411070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INITIAL DESIGNS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74212" y="2294844"/>
            <a:ext cx="5129850" cy="524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4-pins mechanism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stress concentration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Sqaure Nut-Bolt slider mechanism required at Pins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Frequent Neck design usage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Weak Resistance against Bending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97410" y="371377"/>
            <a:ext cx="863947" cy="231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7"/>
              </a:lnSpc>
            </a:pPr>
            <a:r>
              <a:rPr lang="en-US" sz="1376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canva.link/vc7hg33qx0vj04g"/>
              </a:rPr>
              <a:t>Animation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10573" t="3946" r="14724" b="2264"/>
          <a:stretch>
            <a:fillRect/>
          </a:stretch>
        </p:blipFill>
        <p:spPr>
          <a:xfrm flipH="false" flipV="false" rot="0">
            <a:off x="639744" y="1171902"/>
            <a:ext cx="11477754" cy="8473057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76084" y="314227"/>
            <a:ext cx="14724225" cy="732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989"/>
              </a:lnSpc>
              <a:spcBef>
                <a:spcPct val="0"/>
              </a:spcBef>
            </a:pPr>
            <a:r>
              <a:rPr lang="en-US" sz="4278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INITIAL DESIGNS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521760" y="2270896"/>
            <a:ext cx="5357099" cy="6198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Limitations :</a:t>
            </a: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4-pins mechanism </a:t>
            </a: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Higher stress concentration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Non-uniform rotary load distribution between 2 base gears 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Requires a lot of constraining fences &amp; blocks designs.</a:t>
            </a:r>
          </a:p>
          <a:p>
            <a:pPr algn="l">
              <a:lnSpc>
                <a:spcPts val="3779"/>
              </a:lnSpc>
            </a:pPr>
          </a:p>
          <a:p>
            <a:pPr algn="l">
              <a:lnSpc>
                <a:spcPts val="3779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24045" t="3262" r="984" b="5139"/>
          <a:stretch>
            <a:fillRect/>
          </a:stretch>
        </p:blipFill>
        <p:spPr>
          <a:xfrm flipH="false" flipV="false" rot="0">
            <a:off x="633379" y="1190499"/>
            <a:ext cx="11811774" cy="8615641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76084" y="314227"/>
            <a:ext cx="1411070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DESIGN 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74760" y="1778345"/>
            <a:ext cx="4956437" cy="7261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4"/>
              </a:lnSpc>
            </a:pPr>
            <a:r>
              <a:rPr lang="en-US" sz="2567" i="true" b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Advantage</a:t>
            </a:r>
            <a:r>
              <a:rPr lang="en-US" b="true" sz="2567" i="true">
                <a:solidFill>
                  <a:srgbClr val="000000"/>
                </a:solidFill>
                <a:latin typeface="Poppins Bold Italics"/>
                <a:ea typeface="Poppins Bold Italics"/>
                <a:cs typeface="Poppins Bold Italics"/>
                <a:sym typeface="Poppins Bold Italics"/>
              </a:rPr>
              <a:t>s :</a:t>
            </a:r>
            <a:r>
              <a:rPr lang="en-US" sz="25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l">
              <a:lnSpc>
                <a:spcPts val="3594"/>
              </a:lnSpc>
            </a:pPr>
          </a:p>
          <a:p>
            <a:pPr algn="l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8-pins mechanism</a:t>
            </a:r>
          </a:p>
          <a:p>
            <a:pPr algn="l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Uses scissor design to mediate between pins and elastomer. </a:t>
            </a:r>
          </a:p>
          <a:p>
            <a:pPr algn="l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Lower stress concentration &amp; uniform stress distribution across the elastomer.</a:t>
            </a:r>
          </a:p>
          <a:p>
            <a:pPr algn="l">
              <a:lnSpc>
                <a:spcPts val="3594"/>
              </a:lnSpc>
            </a:pPr>
          </a:p>
          <a:p>
            <a:pPr algn="l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Compact and effective constraints in design.</a:t>
            </a:r>
          </a:p>
          <a:p>
            <a:pPr algn="l">
              <a:lnSpc>
                <a:spcPts val="3594"/>
              </a:lnSpc>
            </a:pPr>
          </a:p>
          <a:p>
            <a:pPr algn="l">
              <a:lnSpc>
                <a:spcPts val="3594"/>
              </a:lnSpc>
            </a:pPr>
            <a:r>
              <a:rPr lang="en-US" sz="256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Easier hardware integration</a:t>
            </a:r>
          </a:p>
          <a:p>
            <a:pPr algn="l">
              <a:lnSpc>
                <a:spcPts val="3594"/>
              </a:lnSpc>
            </a:pPr>
          </a:p>
          <a:p>
            <a:pPr algn="l">
              <a:lnSpc>
                <a:spcPts val="3594"/>
              </a:lnSpc>
            </a:pP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63286" y="1305954"/>
            <a:ext cx="9161428" cy="8981046"/>
          </a:xfrm>
          <a:custGeom>
            <a:avLst/>
            <a:gdLst/>
            <a:ahLst/>
            <a:cxnLst/>
            <a:rect r="r" b="b" t="t" l="l"/>
            <a:pathLst>
              <a:path h="8981046" w="9161428">
                <a:moveTo>
                  <a:pt x="0" y="0"/>
                </a:moveTo>
                <a:lnTo>
                  <a:pt x="9161428" y="0"/>
                </a:lnTo>
                <a:lnTo>
                  <a:pt x="9161428" y="8981046"/>
                </a:lnTo>
                <a:lnTo>
                  <a:pt x="0" y="8981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" t="-1105" r="-272" b="-110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084" y="314227"/>
            <a:ext cx="14110702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 DESIGN :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40438"/>
            <a:ext cx="6058735" cy="6419648"/>
          </a:xfrm>
          <a:custGeom>
            <a:avLst/>
            <a:gdLst/>
            <a:ahLst/>
            <a:cxnLst/>
            <a:rect r="r" b="b" t="t" l="l"/>
            <a:pathLst>
              <a:path h="6419648" w="6058735">
                <a:moveTo>
                  <a:pt x="0" y="0"/>
                </a:moveTo>
                <a:lnTo>
                  <a:pt x="6058735" y="0"/>
                </a:lnTo>
                <a:lnTo>
                  <a:pt x="6058735" y="6419649"/>
                </a:lnTo>
                <a:lnTo>
                  <a:pt x="0" y="6419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010997" y="1540438"/>
            <a:ext cx="8248303" cy="6419648"/>
          </a:xfrm>
          <a:custGeom>
            <a:avLst/>
            <a:gdLst/>
            <a:ahLst/>
            <a:cxnLst/>
            <a:rect r="r" b="b" t="t" l="l"/>
            <a:pathLst>
              <a:path h="6419648" w="8248303">
                <a:moveTo>
                  <a:pt x="0" y="0"/>
                </a:moveTo>
                <a:lnTo>
                  <a:pt x="8248303" y="0"/>
                </a:lnTo>
                <a:lnTo>
                  <a:pt x="8248303" y="6419649"/>
                </a:lnTo>
                <a:lnTo>
                  <a:pt x="0" y="6419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6" t="0" r="-12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76084" y="333277"/>
            <a:ext cx="12428783" cy="64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2"/>
              </a:lnSpc>
              <a:spcBef>
                <a:spcPct val="0"/>
              </a:spcBef>
            </a:pPr>
            <a:r>
              <a:rPr lang="en-US" sz="3787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8-PIN SCISSOR MECHANISM :</a:t>
            </a:r>
          </a:p>
        </p:txBody>
      </p:sp>
      <p:grpSp>
        <p:nvGrpSpPr>
          <p:cNvPr name="Group 5" id="5"/>
          <p:cNvGrpSpPr/>
          <p:nvPr/>
        </p:nvGrpSpPr>
        <p:grpSpPr>
          <a:xfrm rot="5400000">
            <a:off x="7495583" y="4196630"/>
            <a:ext cx="1107266" cy="110726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316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03200" y="34925"/>
              <a:ext cx="406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77226" y="8677910"/>
            <a:ext cx="714398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Acts as a compliant fixture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440868">
            <a:off x="10027008" y="-149909"/>
            <a:ext cx="8022257" cy="10178632"/>
            <a:chOff x="0" y="0"/>
            <a:chExt cx="10696343" cy="135715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96343" cy="11366250"/>
            </a:xfrm>
            <a:custGeom>
              <a:avLst/>
              <a:gdLst/>
              <a:ahLst/>
              <a:cxnLst/>
              <a:rect r="r" b="b" t="t" l="l"/>
              <a:pathLst>
                <a:path h="11366250" w="10696343">
                  <a:moveTo>
                    <a:pt x="0" y="0"/>
                  </a:moveTo>
                  <a:lnTo>
                    <a:pt x="10696343" y="0"/>
                  </a:lnTo>
                  <a:lnTo>
                    <a:pt x="10696343" y="11366250"/>
                  </a:lnTo>
                  <a:lnTo>
                    <a:pt x="0" y="1136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27" r="0" b="-527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135406">
              <a:off x="327292" y="10334093"/>
              <a:ext cx="5464042" cy="3131050"/>
            </a:xfrm>
            <a:custGeom>
              <a:avLst/>
              <a:gdLst/>
              <a:ahLst/>
              <a:cxnLst/>
              <a:rect r="r" b="b" t="t" l="l"/>
              <a:pathLst>
                <a:path h="3131050" w="5464042">
                  <a:moveTo>
                    <a:pt x="0" y="0"/>
                  </a:moveTo>
                  <a:lnTo>
                    <a:pt x="5464042" y="0"/>
                  </a:lnTo>
                  <a:lnTo>
                    <a:pt x="5464042" y="3131050"/>
                  </a:lnTo>
                  <a:lnTo>
                    <a:pt x="0" y="313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987" r="0" b="-433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00544" y="1383016"/>
            <a:ext cx="3086100" cy="30861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ABCA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8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959566" y="1241622"/>
            <a:ext cx="2386721" cy="1898710"/>
          </a:xfrm>
          <a:custGeom>
            <a:avLst/>
            <a:gdLst/>
            <a:ahLst/>
            <a:cxnLst/>
            <a:rect r="r" b="b" t="t" l="l"/>
            <a:pathLst>
              <a:path h="1898710" w="2386721">
                <a:moveTo>
                  <a:pt x="0" y="0"/>
                </a:moveTo>
                <a:lnTo>
                  <a:pt x="2386721" y="0"/>
                </a:lnTo>
                <a:lnTo>
                  <a:pt x="2386721" y="1898710"/>
                </a:lnTo>
                <a:lnTo>
                  <a:pt x="0" y="1898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6084" y="333277"/>
            <a:ext cx="12428783" cy="64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2"/>
              </a:lnSpc>
              <a:spcBef>
                <a:spcPct val="0"/>
              </a:spcBef>
            </a:pPr>
            <a:r>
              <a:rPr lang="en-US" sz="3787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EXPLODED DESIGN VIEW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69997" y="5937766"/>
            <a:ext cx="9742001" cy="91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8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Upper T Base + Source Gear with Motor + T Rack</a:t>
            </a:r>
          </a:p>
          <a:p>
            <a:pPr algn="just">
              <a:lnSpc>
                <a:spcPts val="3638"/>
              </a:lnSpc>
            </a:pPr>
            <a:r>
              <a:rPr lang="en-US" b="true" sz="25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X Direction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36237" y="4481552"/>
            <a:ext cx="6618962" cy="45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Central Gears 1 &amp; 2 + Motors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1776" y="2694801"/>
            <a:ext cx="4039591" cy="91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Cross L Racks</a:t>
            </a:r>
          </a:p>
          <a:p>
            <a:pPr algn="l">
              <a:lnSpc>
                <a:spcPts val="3638"/>
              </a:lnSpc>
            </a:pPr>
            <a:r>
              <a:rPr lang="en-US" sz="25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Y Direction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07216" y="7799812"/>
            <a:ext cx="7474152" cy="45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Lower Base for Hardware Integration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4444" y="2264396"/>
            <a:ext cx="2738300" cy="1218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Rack Gear Mechanism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958980" y="1424415"/>
            <a:ext cx="6613764" cy="45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8"/>
              </a:lnSpc>
            </a:pPr>
            <a:r>
              <a:rPr lang="en-US" sz="25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Scissor Mechanism + DE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354160" y="2024818"/>
            <a:ext cx="594110" cy="59411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B4E9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203200" y="34925"/>
              <a:ext cx="406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354160" y="3752731"/>
            <a:ext cx="594110" cy="59411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B4E9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203200" y="34925"/>
              <a:ext cx="406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354160" y="5143500"/>
            <a:ext cx="594110" cy="59411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B4E9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203200" y="34925"/>
              <a:ext cx="406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354160" y="6852821"/>
            <a:ext cx="594110" cy="594110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812800"/>
                  </a:lnTo>
                  <a:lnTo>
                    <a:pt x="609600" y="8128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B4E9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203200" y="34925"/>
              <a:ext cx="406400" cy="777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17701" y="1874336"/>
            <a:ext cx="1861130" cy="1703061"/>
          </a:xfrm>
          <a:custGeom>
            <a:avLst/>
            <a:gdLst/>
            <a:ahLst/>
            <a:cxnLst/>
            <a:rect r="r" b="b" t="t" l="l"/>
            <a:pathLst>
              <a:path h="1703061" w="1861130">
                <a:moveTo>
                  <a:pt x="0" y="0"/>
                </a:moveTo>
                <a:lnTo>
                  <a:pt x="1861130" y="0"/>
                </a:lnTo>
                <a:lnTo>
                  <a:pt x="1861130" y="1703061"/>
                </a:lnTo>
                <a:lnTo>
                  <a:pt x="0" y="17030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149457">
            <a:off x="2321675" y="6312890"/>
            <a:ext cx="4680650" cy="2298665"/>
          </a:xfrm>
          <a:custGeom>
            <a:avLst/>
            <a:gdLst/>
            <a:ahLst/>
            <a:cxnLst/>
            <a:rect r="r" b="b" t="t" l="l"/>
            <a:pathLst>
              <a:path h="2298665" w="4680650">
                <a:moveTo>
                  <a:pt x="0" y="0"/>
                </a:moveTo>
                <a:lnTo>
                  <a:pt x="4680650" y="0"/>
                </a:lnTo>
                <a:lnTo>
                  <a:pt x="4680650" y="2298665"/>
                </a:lnTo>
                <a:lnTo>
                  <a:pt x="0" y="22986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466135">
            <a:off x="6450081" y="6389285"/>
            <a:ext cx="5387838" cy="3533328"/>
          </a:xfrm>
          <a:custGeom>
            <a:avLst/>
            <a:gdLst/>
            <a:ahLst/>
            <a:cxnLst/>
            <a:rect r="r" b="b" t="t" l="l"/>
            <a:pathLst>
              <a:path h="3533328" w="5387838">
                <a:moveTo>
                  <a:pt x="0" y="0"/>
                </a:moveTo>
                <a:lnTo>
                  <a:pt x="5387838" y="0"/>
                </a:lnTo>
                <a:lnTo>
                  <a:pt x="5387838" y="3533328"/>
                </a:lnTo>
                <a:lnTo>
                  <a:pt x="0" y="35333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965502" y="1178861"/>
            <a:ext cx="5862286" cy="3654700"/>
          </a:xfrm>
          <a:custGeom>
            <a:avLst/>
            <a:gdLst/>
            <a:ahLst/>
            <a:cxnLst/>
            <a:rect r="r" b="b" t="t" l="l"/>
            <a:pathLst>
              <a:path h="3654700" w="5862286">
                <a:moveTo>
                  <a:pt x="0" y="0"/>
                </a:moveTo>
                <a:lnTo>
                  <a:pt x="5862286" y="0"/>
                </a:lnTo>
                <a:lnTo>
                  <a:pt x="5862286" y="3654700"/>
                </a:lnTo>
                <a:lnTo>
                  <a:pt x="0" y="3654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694" y="387053"/>
            <a:ext cx="12428783" cy="64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2"/>
              </a:lnSpc>
              <a:spcBef>
                <a:spcPct val="0"/>
              </a:spcBef>
            </a:pPr>
            <a:r>
              <a:rPr lang="en-US" sz="3787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IMPORTANT DESIGN MEASUREMENTS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8641" y="1578096"/>
            <a:ext cx="3641929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Gears :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 = 2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Pressure Angle = 20°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No. of Teeth = 28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Pitch radius = 14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Thickness = 28 mm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84799" y="5998336"/>
            <a:ext cx="3733675" cy="319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Cross L Racks </a:t>
            </a: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 = 2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Pitch = 2π = 6.28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No. of Teeth = 63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Length = 400.6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Width = 20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Thickness = 30 mm</a:t>
            </a:r>
          </a:p>
          <a:p>
            <a:pPr algn="l">
              <a:lnSpc>
                <a:spcPts val="32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923032" y="1578096"/>
            <a:ext cx="3570016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 Rack </a:t>
            </a: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Module = 2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Pitch = 2π = 6.28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No. of Teeth = 66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Length = 419.44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Width = 50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Thickness = 30 mm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3654" y="5672040"/>
            <a:ext cx="5487705" cy="279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Tolerances between </a:t>
            </a: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Rack Teeth &amp; Walls = 0.4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 Walls = 0.4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Rack Teeth &amp; Gear Teeth = 0.15 mm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</a:pPr>
            <a:r>
              <a:rPr lang="en-US" sz="2300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Rest was designed accordingly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24558" y="4937515"/>
            <a:ext cx="3048794" cy="1198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 Base </a:t>
            </a:r>
            <a:r>
              <a:rPr lang="en-US" sz="23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: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Length = 410 mm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Width = 238 mm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67789" y="5495207"/>
            <a:ext cx="1102059" cy="1102059"/>
          </a:xfrm>
          <a:custGeom>
            <a:avLst/>
            <a:gdLst/>
            <a:ahLst/>
            <a:cxnLst/>
            <a:rect r="r" b="b" t="t" l="l"/>
            <a:pathLst>
              <a:path h="1102059" w="1102059">
                <a:moveTo>
                  <a:pt x="0" y="0"/>
                </a:moveTo>
                <a:lnTo>
                  <a:pt x="1102059" y="0"/>
                </a:lnTo>
                <a:lnTo>
                  <a:pt x="1102059" y="1102059"/>
                </a:lnTo>
                <a:lnTo>
                  <a:pt x="0" y="1102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011567" y="5412936"/>
            <a:ext cx="844401" cy="1266601"/>
          </a:xfrm>
          <a:custGeom>
            <a:avLst/>
            <a:gdLst/>
            <a:ahLst/>
            <a:cxnLst/>
            <a:rect r="r" b="b" t="t" l="l"/>
            <a:pathLst>
              <a:path h="1266601" w="844401">
                <a:moveTo>
                  <a:pt x="0" y="0"/>
                </a:moveTo>
                <a:lnTo>
                  <a:pt x="844401" y="0"/>
                </a:lnTo>
                <a:lnTo>
                  <a:pt x="844401" y="1266602"/>
                </a:lnTo>
                <a:lnTo>
                  <a:pt x="0" y="12666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2112567" y="2217032"/>
            <a:ext cx="2307163" cy="1153582"/>
          </a:xfrm>
          <a:custGeom>
            <a:avLst/>
            <a:gdLst/>
            <a:ahLst/>
            <a:cxnLst/>
            <a:rect r="r" b="b" t="t" l="l"/>
            <a:pathLst>
              <a:path h="1153582" w="2307163">
                <a:moveTo>
                  <a:pt x="0" y="0"/>
                </a:moveTo>
                <a:lnTo>
                  <a:pt x="2307163" y="0"/>
                </a:lnTo>
                <a:lnTo>
                  <a:pt x="2307163" y="1153582"/>
                </a:lnTo>
                <a:lnTo>
                  <a:pt x="0" y="11535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231014" y="1463410"/>
            <a:ext cx="1205073" cy="2609334"/>
          </a:xfrm>
          <a:custGeom>
            <a:avLst/>
            <a:gdLst/>
            <a:ahLst/>
            <a:cxnLst/>
            <a:rect r="r" b="b" t="t" l="l"/>
            <a:pathLst>
              <a:path h="2609334" w="1205073">
                <a:moveTo>
                  <a:pt x="0" y="0"/>
                </a:moveTo>
                <a:lnTo>
                  <a:pt x="1205073" y="0"/>
                </a:lnTo>
                <a:lnTo>
                  <a:pt x="1205073" y="2609335"/>
                </a:lnTo>
                <a:lnTo>
                  <a:pt x="0" y="26093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0931" t="0" r="-10931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6083213" y="5495207"/>
            <a:ext cx="1746679" cy="1164452"/>
          </a:xfrm>
          <a:custGeom>
            <a:avLst/>
            <a:gdLst/>
            <a:ahLst/>
            <a:cxnLst/>
            <a:rect r="r" b="b" t="t" l="l"/>
            <a:pathLst>
              <a:path h="1164452" w="1746679">
                <a:moveTo>
                  <a:pt x="0" y="0"/>
                </a:moveTo>
                <a:lnTo>
                  <a:pt x="1746679" y="0"/>
                </a:lnTo>
                <a:lnTo>
                  <a:pt x="1746679" y="1164453"/>
                </a:lnTo>
                <a:lnTo>
                  <a:pt x="0" y="11644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5400000">
            <a:off x="4162448" y="5180578"/>
            <a:ext cx="933061" cy="1779804"/>
          </a:xfrm>
          <a:custGeom>
            <a:avLst/>
            <a:gdLst/>
            <a:ahLst/>
            <a:cxnLst/>
            <a:rect r="r" b="b" t="t" l="l"/>
            <a:pathLst>
              <a:path h="1779804" w="933061">
                <a:moveTo>
                  <a:pt x="0" y="0"/>
                </a:moveTo>
                <a:lnTo>
                  <a:pt x="933061" y="0"/>
                </a:lnTo>
                <a:lnTo>
                  <a:pt x="933061" y="1779804"/>
                </a:lnTo>
                <a:lnTo>
                  <a:pt x="0" y="17798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2871477" y="5670304"/>
            <a:ext cx="2401054" cy="800351"/>
          </a:xfrm>
          <a:custGeom>
            <a:avLst/>
            <a:gdLst/>
            <a:ahLst/>
            <a:cxnLst/>
            <a:rect r="r" b="b" t="t" l="l"/>
            <a:pathLst>
              <a:path h="800351" w="2401054">
                <a:moveTo>
                  <a:pt x="0" y="0"/>
                </a:moveTo>
                <a:lnTo>
                  <a:pt x="2401055" y="0"/>
                </a:lnTo>
                <a:lnTo>
                  <a:pt x="2401055" y="800351"/>
                </a:lnTo>
                <a:lnTo>
                  <a:pt x="0" y="8003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367931" y="2195040"/>
            <a:ext cx="2299858" cy="1197567"/>
          </a:xfrm>
          <a:custGeom>
            <a:avLst/>
            <a:gdLst/>
            <a:ahLst/>
            <a:cxnLst/>
            <a:rect r="r" b="b" t="t" l="l"/>
            <a:pathLst>
              <a:path h="1197567" w="2299858">
                <a:moveTo>
                  <a:pt x="0" y="0"/>
                </a:moveTo>
                <a:lnTo>
                  <a:pt x="2299858" y="0"/>
                </a:lnTo>
                <a:lnTo>
                  <a:pt x="2299858" y="1197567"/>
                </a:lnTo>
                <a:lnTo>
                  <a:pt x="0" y="11975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652844" y="2206769"/>
            <a:ext cx="1866037" cy="1174109"/>
          </a:xfrm>
          <a:custGeom>
            <a:avLst/>
            <a:gdLst/>
            <a:ahLst/>
            <a:cxnLst/>
            <a:rect r="r" b="b" t="t" l="l"/>
            <a:pathLst>
              <a:path h="1174109" w="1866037">
                <a:moveTo>
                  <a:pt x="0" y="0"/>
                </a:moveTo>
                <a:lnTo>
                  <a:pt x="1866037" y="0"/>
                </a:lnTo>
                <a:lnTo>
                  <a:pt x="1866037" y="1174109"/>
                </a:lnTo>
                <a:lnTo>
                  <a:pt x="0" y="11741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7114" r="0" b="-7114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432180" y="2228155"/>
            <a:ext cx="1746679" cy="1164452"/>
          </a:xfrm>
          <a:custGeom>
            <a:avLst/>
            <a:gdLst/>
            <a:ahLst/>
            <a:cxnLst/>
            <a:rect r="r" b="b" t="t" l="l"/>
            <a:pathLst>
              <a:path h="1164452" w="1746679">
                <a:moveTo>
                  <a:pt x="0" y="0"/>
                </a:moveTo>
                <a:lnTo>
                  <a:pt x="1746679" y="0"/>
                </a:lnTo>
                <a:lnTo>
                  <a:pt x="1746679" y="1164452"/>
                </a:lnTo>
                <a:lnTo>
                  <a:pt x="0" y="116445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6014967" y="5301348"/>
            <a:ext cx="1181038" cy="1489778"/>
          </a:xfrm>
          <a:custGeom>
            <a:avLst/>
            <a:gdLst/>
            <a:ahLst/>
            <a:cxnLst/>
            <a:rect r="r" b="b" t="t" l="l"/>
            <a:pathLst>
              <a:path h="1489778" w="1181038">
                <a:moveTo>
                  <a:pt x="0" y="0"/>
                </a:moveTo>
                <a:lnTo>
                  <a:pt x="1181038" y="0"/>
                </a:lnTo>
                <a:lnTo>
                  <a:pt x="1181038" y="1489778"/>
                </a:lnTo>
                <a:lnTo>
                  <a:pt x="0" y="1489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5112079" y="2195040"/>
            <a:ext cx="2229632" cy="1529323"/>
          </a:xfrm>
          <a:custGeom>
            <a:avLst/>
            <a:gdLst/>
            <a:ahLst/>
            <a:cxnLst/>
            <a:rect r="r" b="b" t="t" l="l"/>
            <a:pathLst>
              <a:path h="1529323" w="2229632">
                <a:moveTo>
                  <a:pt x="0" y="0"/>
                </a:moveTo>
                <a:lnTo>
                  <a:pt x="2229632" y="0"/>
                </a:lnTo>
                <a:lnTo>
                  <a:pt x="2229632" y="1529323"/>
                </a:lnTo>
                <a:lnTo>
                  <a:pt x="0" y="152932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443" t="0" r="-1443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615888" y="5646061"/>
            <a:ext cx="2438685" cy="848837"/>
          </a:xfrm>
          <a:custGeom>
            <a:avLst/>
            <a:gdLst/>
            <a:ahLst/>
            <a:cxnLst/>
            <a:rect r="r" b="b" t="t" l="l"/>
            <a:pathLst>
              <a:path h="848837" w="2438685">
                <a:moveTo>
                  <a:pt x="0" y="0"/>
                </a:moveTo>
                <a:lnTo>
                  <a:pt x="2438685" y="0"/>
                </a:lnTo>
                <a:lnTo>
                  <a:pt x="2438685" y="848837"/>
                </a:lnTo>
                <a:lnTo>
                  <a:pt x="0" y="8488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442694" y="387053"/>
            <a:ext cx="12428783" cy="641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02"/>
              </a:lnSpc>
              <a:spcBef>
                <a:spcPct val="0"/>
              </a:spcBef>
            </a:pPr>
            <a:r>
              <a:rPr lang="en-US" sz="3787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HARDWARE COMPONENTS 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5888" y="3608444"/>
            <a:ext cx="2139054" cy="82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12V SMPS </a:t>
            </a:r>
            <a:r>
              <a:rPr lang="en-US" b="true" sz="2332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Adapter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25222" y="3608444"/>
            <a:ext cx="2721280" cy="41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Arduino Uno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48263" y="3608444"/>
            <a:ext cx="2939193" cy="41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Arduino Mega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16775" y="3608444"/>
            <a:ext cx="2939193" cy="82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Limit Switch </a:t>
            </a:r>
          </a:p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(NO)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875018" y="3608444"/>
            <a:ext cx="2939193" cy="41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Terminal Block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5704" y="6980068"/>
            <a:ext cx="2139054" cy="82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LCD</a:t>
            </a:r>
          </a:p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Display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16336" y="6950443"/>
            <a:ext cx="2139054" cy="82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5V Buck</a:t>
            </a:r>
          </a:p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Converter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87026" y="6833005"/>
            <a:ext cx="2139054" cy="82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Rotary  Encoder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49291" y="6950443"/>
            <a:ext cx="2139054" cy="823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Motor</a:t>
            </a:r>
          </a:p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Driver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23656" y="6980068"/>
            <a:ext cx="2139054" cy="1235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DC Worm Gear Motor</a:t>
            </a:r>
          </a:p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with encoder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1477" y="6833005"/>
            <a:ext cx="2139054" cy="41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Fuse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35820" y="3785131"/>
            <a:ext cx="2939193" cy="41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Switch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535959" y="7009692"/>
            <a:ext cx="2139054" cy="41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5"/>
              </a:lnSpc>
            </a:pPr>
            <a:r>
              <a:rPr lang="en-US" sz="233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 Button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61815" y="3585742"/>
            <a:ext cx="5226185" cy="3405763"/>
            <a:chOff x="0" y="0"/>
            <a:chExt cx="6968247" cy="4541018"/>
          </a:xfrm>
        </p:grpSpPr>
        <p:sp>
          <p:nvSpPr>
            <p:cNvPr name="AutoShape 3" id="3"/>
            <p:cNvSpPr/>
            <p:nvPr/>
          </p:nvSpPr>
          <p:spPr>
            <a:xfrm>
              <a:off x="472704" y="814978"/>
              <a:ext cx="802112" cy="0"/>
            </a:xfrm>
            <a:prstGeom prst="line">
              <a:avLst/>
            </a:prstGeom>
            <a:ln cap="flat" w="1016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" id="4"/>
            <p:cNvSpPr/>
            <p:nvPr/>
          </p:nvSpPr>
          <p:spPr>
            <a:xfrm>
              <a:off x="472704" y="2028378"/>
              <a:ext cx="802112" cy="0"/>
            </a:xfrm>
            <a:prstGeom prst="line">
              <a:avLst/>
            </a:prstGeom>
            <a:ln cap="flat" w="1016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" id="5"/>
            <p:cNvSpPr/>
            <p:nvPr/>
          </p:nvSpPr>
          <p:spPr>
            <a:xfrm>
              <a:off x="472704" y="3203678"/>
              <a:ext cx="802112" cy="0"/>
            </a:xfrm>
            <a:prstGeom prst="line">
              <a:avLst/>
            </a:prstGeom>
            <a:ln cap="flat" w="1016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6" id="6"/>
            <p:cNvGrpSpPr/>
            <p:nvPr/>
          </p:nvGrpSpPr>
          <p:grpSpPr>
            <a:xfrm rot="0">
              <a:off x="1567418" y="339903"/>
              <a:ext cx="5400828" cy="3929069"/>
              <a:chOff x="0" y="0"/>
              <a:chExt cx="1183314" cy="86085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83314" cy="860853"/>
              </a:xfrm>
              <a:custGeom>
                <a:avLst/>
                <a:gdLst/>
                <a:ahLst/>
                <a:cxnLst/>
                <a:rect r="r" b="b" t="t" l="l"/>
                <a:pathLst>
                  <a:path h="860853" w="1183314">
                    <a:moveTo>
                      <a:pt x="0" y="0"/>
                    </a:moveTo>
                    <a:lnTo>
                      <a:pt x="1183314" y="0"/>
                    </a:lnTo>
                    <a:lnTo>
                      <a:pt x="1183314" y="860853"/>
                    </a:lnTo>
                    <a:lnTo>
                      <a:pt x="0" y="860853"/>
                    </a:lnTo>
                    <a:close/>
                  </a:path>
                </a:pathLst>
              </a:custGeom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66675"/>
                <a:ext cx="1183314" cy="927528"/>
              </a:xfrm>
              <a:prstGeom prst="rect">
                <a:avLst/>
              </a:prstGeom>
            </p:spPr>
            <p:txBody>
              <a:bodyPr anchor="ctr" rtlCol="false" tIns="45799" lIns="45799" bIns="45799" rIns="45799"/>
              <a:lstStyle/>
              <a:p>
                <a:pPr algn="just">
                  <a:lnSpc>
                    <a:spcPts val="3639"/>
                  </a:lnSpc>
                </a:pPr>
                <a:r>
                  <a:rPr lang="en-US" sz="2599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Electrical Power</a:t>
                </a:r>
              </a:p>
              <a:p>
                <a:pPr algn="just">
                  <a:lnSpc>
                    <a:spcPts val="3639"/>
                  </a:lnSpc>
                </a:pPr>
              </a:p>
              <a:p>
                <a:pPr algn="just">
                  <a:lnSpc>
                    <a:spcPts val="3639"/>
                  </a:lnSpc>
                </a:pPr>
                <a:r>
                  <a:rPr lang="en-US" sz="2599" b="true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Electrical Signal</a:t>
                </a:r>
              </a:p>
              <a:p>
                <a:pPr algn="just">
                  <a:lnSpc>
                    <a:spcPts val="3639"/>
                  </a:lnSpc>
                </a:pPr>
              </a:p>
              <a:p>
                <a:pPr algn="just">
                  <a:lnSpc>
                    <a:spcPts val="3639"/>
                  </a:lnSpc>
                </a:pPr>
                <a:r>
                  <a:rPr lang="en-US" b="true" sz="2599">
                    <a:solidFill>
                      <a:srgbClr val="000000"/>
                    </a:solidFill>
                    <a:latin typeface="Arial Bold"/>
                    <a:ea typeface="Arial Bold"/>
                    <a:cs typeface="Arial Bold"/>
                    <a:sym typeface="Arial Bold"/>
                  </a:rPr>
                  <a:t>Mechanical Transmission</a:t>
                </a: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5769671" cy="4541018"/>
              <a:chOff x="0" y="0"/>
              <a:chExt cx="1264127" cy="99493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264127" cy="994931"/>
              </a:xfrm>
              <a:custGeom>
                <a:avLst/>
                <a:gdLst/>
                <a:ahLst/>
                <a:cxnLst/>
                <a:rect r="r" b="b" t="t" l="l"/>
                <a:pathLst>
                  <a:path h="994931" w="1264127">
                    <a:moveTo>
                      <a:pt x="0" y="0"/>
                    </a:moveTo>
                    <a:lnTo>
                      <a:pt x="1264127" y="0"/>
                    </a:lnTo>
                    <a:lnTo>
                      <a:pt x="1264127" y="994931"/>
                    </a:lnTo>
                    <a:lnTo>
                      <a:pt x="0" y="994931"/>
                    </a:lnTo>
                    <a:close/>
                  </a:path>
                </a:pathLst>
              </a:custGeom>
              <a:ln w="857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57150"/>
                <a:ext cx="1264127" cy="1052081"/>
              </a:xfrm>
              <a:prstGeom prst="rect">
                <a:avLst/>
              </a:prstGeom>
            </p:spPr>
            <p:txBody>
              <a:bodyPr anchor="ctr" rtlCol="false" tIns="45799" lIns="45799" bIns="45799" rIns="45799"/>
              <a:lstStyle/>
              <a:p>
                <a:pPr algn="ctr">
                  <a:lnSpc>
                    <a:spcPts val="3079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824126" y="1309574"/>
            <a:ext cx="10977187" cy="8510015"/>
            <a:chOff x="0" y="0"/>
            <a:chExt cx="14636249" cy="11346687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10012461" y="3890101"/>
              <a:ext cx="2743935" cy="937349"/>
              <a:chOff x="0" y="0"/>
              <a:chExt cx="652027" cy="22273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52027" cy="222737"/>
              </a:xfrm>
              <a:custGeom>
                <a:avLst/>
                <a:gdLst/>
                <a:ahLst/>
                <a:cxnLst/>
                <a:rect r="r" b="b" t="t" l="l"/>
                <a:pathLst>
                  <a:path h="222737" w="652027">
                    <a:moveTo>
                      <a:pt x="0" y="0"/>
                    </a:moveTo>
                    <a:lnTo>
                      <a:pt x="652027" y="0"/>
                    </a:lnTo>
                    <a:lnTo>
                      <a:pt x="652027" y="222737"/>
                    </a:lnTo>
                    <a:lnTo>
                      <a:pt x="0" y="22273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652027" cy="289412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Motor Driver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9659552" y="5679108"/>
              <a:ext cx="3449854" cy="1496149"/>
              <a:chOff x="0" y="0"/>
              <a:chExt cx="819771" cy="355522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9771" cy="355522"/>
              </a:xfrm>
              <a:custGeom>
                <a:avLst/>
                <a:gdLst/>
                <a:ahLst/>
                <a:cxnLst/>
                <a:rect r="r" b="b" t="t" l="l"/>
                <a:pathLst>
                  <a:path h="355522" w="819771">
                    <a:moveTo>
                      <a:pt x="0" y="0"/>
                    </a:moveTo>
                    <a:lnTo>
                      <a:pt x="819771" y="0"/>
                    </a:lnTo>
                    <a:lnTo>
                      <a:pt x="819771" y="355522"/>
                    </a:lnTo>
                    <a:lnTo>
                      <a:pt x="0" y="355522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819771" cy="422197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Motor + Encoder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4775838" y="7322292"/>
              <a:ext cx="3349500" cy="1411732"/>
              <a:chOff x="0" y="0"/>
              <a:chExt cx="795924" cy="335462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795924" cy="335462"/>
              </a:xfrm>
              <a:custGeom>
                <a:avLst/>
                <a:gdLst/>
                <a:ahLst/>
                <a:cxnLst/>
                <a:rect r="r" b="b" t="t" l="l"/>
                <a:pathLst>
                  <a:path h="335462" w="795924">
                    <a:moveTo>
                      <a:pt x="0" y="0"/>
                    </a:moveTo>
                    <a:lnTo>
                      <a:pt x="795924" y="0"/>
                    </a:lnTo>
                    <a:lnTo>
                      <a:pt x="795924" y="335462"/>
                    </a:lnTo>
                    <a:lnTo>
                      <a:pt x="0" y="335462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795924" cy="402137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Mechanism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018214" y="7521356"/>
              <a:ext cx="2743935" cy="937349"/>
              <a:chOff x="0" y="0"/>
              <a:chExt cx="652027" cy="22273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52027" cy="222737"/>
              </a:xfrm>
              <a:custGeom>
                <a:avLst/>
                <a:gdLst/>
                <a:ahLst/>
                <a:cxnLst/>
                <a:rect r="r" b="b" t="t" l="l"/>
                <a:pathLst>
                  <a:path h="222737" w="652027">
                    <a:moveTo>
                      <a:pt x="0" y="0"/>
                    </a:moveTo>
                    <a:lnTo>
                      <a:pt x="652027" y="0"/>
                    </a:lnTo>
                    <a:lnTo>
                      <a:pt x="652027" y="222737"/>
                    </a:lnTo>
                    <a:lnTo>
                      <a:pt x="0" y="22273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652027" cy="289412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Limit Switch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0012512" y="7762213"/>
              <a:ext cx="2743935" cy="937349"/>
              <a:chOff x="0" y="0"/>
              <a:chExt cx="652027" cy="22273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52027" cy="222737"/>
              </a:xfrm>
              <a:custGeom>
                <a:avLst/>
                <a:gdLst/>
                <a:ahLst/>
                <a:cxnLst/>
                <a:rect r="r" b="b" t="t" l="l"/>
                <a:pathLst>
                  <a:path h="222737" w="652027">
                    <a:moveTo>
                      <a:pt x="0" y="0"/>
                    </a:moveTo>
                    <a:lnTo>
                      <a:pt x="652027" y="0"/>
                    </a:lnTo>
                    <a:lnTo>
                      <a:pt x="652027" y="222737"/>
                    </a:lnTo>
                    <a:lnTo>
                      <a:pt x="0" y="22273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66675"/>
                <a:ext cx="652027" cy="289412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Gear Box</a:t>
                </a: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1076486" y="0"/>
              <a:ext cx="2685663" cy="1616782"/>
              <a:chOff x="0" y="0"/>
              <a:chExt cx="638180" cy="38418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38180" cy="384187"/>
              </a:xfrm>
              <a:custGeom>
                <a:avLst/>
                <a:gdLst/>
                <a:ahLst/>
                <a:cxnLst/>
                <a:rect r="r" b="b" t="t" l="l"/>
                <a:pathLst>
                  <a:path h="384187" w="638180">
                    <a:moveTo>
                      <a:pt x="0" y="0"/>
                    </a:moveTo>
                    <a:lnTo>
                      <a:pt x="638180" y="0"/>
                    </a:lnTo>
                    <a:lnTo>
                      <a:pt x="638180" y="384187"/>
                    </a:lnTo>
                    <a:lnTo>
                      <a:pt x="0" y="38418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66675"/>
                <a:ext cx="638180" cy="450862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639"/>
                  </a:lnSpc>
                  <a:spcBef>
                    <a:spcPct val="0"/>
                  </a:spcBef>
                </a:pPr>
                <a:r>
                  <a:rPr lang="en-US" sz="25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AC Power Source</a:t>
                </a: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854051" y="9842562"/>
              <a:ext cx="2265979" cy="1496149"/>
              <a:chOff x="0" y="0"/>
              <a:chExt cx="538453" cy="355522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538453" cy="355522"/>
              </a:xfrm>
              <a:custGeom>
                <a:avLst/>
                <a:gdLst/>
                <a:ahLst/>
                <a:cxnLst/>
                <a:rect r="r" b="b" t="t" l="l"/>
                <a:pathLst>
                  <a:path h="355522" w="538453">
                    <a:moveTo>
                      <a:pt x="0" y="0"/>
                    </a:moveTo>
                    <a:lnTo>
                      <a:pt x="538453" y="0"/>
                    </a:lnTo>
                    <a:lnTo>
                      <a:pt x="538453" y="355522"/>
                    </a:lnTo>
                    <a:lnTo>
                      <a:pt x="0" y="355522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66675"/>
                <a:ext cx="538453" cy="422197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LED Display</a:t>
                </a: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324730" y="9842562"/>
              <a:ext cx="2743935" cy="1496149"/>
              <a:chOff x="0" y="0"/>
              <a:chExt cx="652027" cy="35552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52027" cy="355522"/>
              </a:xfrm>
              <a:custGeom>
                <a:avLst/>
                <a:gdLst/>
                <a:ahLst/>
                <a:cxnLst/>
                <a:rect r="r" b="b" t="t" l="l"/>
                <a:pathLst>
                  <a:path h="355522" w="652027">
                    <a:moveTo>
                      <a:pt x="0" y="0"/>
                    </a:moveTo>
                    <a:lnTo>
                      <a:pt x="652027" y="0"/>
                    </a:lnTo>
                    <a:lnTo>
                      <a:pt x="652027" y="355522"/>
                    </a:lnTo>
                    <a:lnTo>
                      <a:pt x="0" y="355522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66675"/>
                <a:ext cx="652027" cy="422197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Rotary Encoder</a:t>
                </a:r>
              </a:p>
            </p:txBody>
          </p:sp>
        </p:grpSp>
        <p:sp>
          <p:nvSpPr>
            <p:cNvPr name="AutoShape 37" id="37"/>
            <p:cNvSpPr/>
            <p:nvPr/>
          </p:nvSpPr>
          <p:spPr>
            <a:xfrm>
              <a:off x="3762149" y="795975"/>
              <a:ext cx="2818697" cy="0"/>
            </a:xfrm>
            <a:prstGeom prst="line">
              <a:avLst/>
            </a:pr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38" id="38"/>
            <p:cNvSpPr/>
            <p:nvPr/>
          </p:nvSpPr>
          <p:spPr>
            <a:xfrm>
              <a:off x="9324781" y="764225"/>
              <a:ext cx="2376774" cy="3125875"/>
            </a:xfrm>
            <a:custGeom>
              <a:avLst/>
              <a:gdLst/>
              <a:ahLst/>
              <a:cxnLst/>
              <a:rect r="r" b="b" t="t" l="l"/>
              <a:pathLst>
                <a:path h="3125875" w="2376774">
                  <a:moveTo>
                    <a:pt x="0" y="0"/>
                  </a:moveTo>
                  <a:lnTo>
                    <a:pt x="2033875" y="0"/>
                  </a:lnTo>
                  <a:cubicBezTo>
                    <a:pt x="2124817" y="0"/>
                    <a:pt x="2212035" y="36127"/>
                    <a:pt x="2276341" y="100433"/>
                  </a:cubicBezTo>
                  <a:cubicBezTo>
                    <a:pt x="2340648" y="164740"/>
                    <a:pt x="2376775" y="251957"/>
                    <a:pt x="2376775" y="342900"/>
                  </a:cubicBezTo>
                  <a:lnTo>
                    <a:pt x="2376775" y="3125876"/>
                  </a:lnTo>
                </a:path>
              </a:pathLst>
            </a:cu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39" id="39"/>
            <p:cNvSpPr/>
            <p:nvPr/>
          </p:nvSpPr>
          <p:spPr>
            <a:xfrm flipH="true">
              <a:off x="7952763" y="1181929"/>
              <a:ext cx="51" cy="789536"/>
            </a:xfrm>
            <a:prstGeom prst="line">
              <a:avLst/>
            </a:pr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0" id="40"/>
            <p:cNvGrpSpPr/>
            <p:nvPr/>
          </p:nvGrpSpPr>
          <p:grpSpPr>
            <a:xfrm rot="0">
              <a:off x="6580846" y="346521"/>
              <a:ext cx="2743935" cy="937349"/>
              <a:chOff x="0" y="0"/>
              <a:chExt cx="652027" cy="22273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52027" cy="222737"/>
              </a:xfrm>
              <a:custGeom>
                <a:avLst/>
                <a:gdLst/>
                <a:ahLst/>
                <a:cxnLst/>
                <a:rect r="r" b="b" t="t" l="l"/>
                <a:pathLst>
                  <a:path h="222737" w="652027">
                    <a:moveTo>
                      <a:pt x="0" y="0"/>
                    </a:moveTo>
                    <a:lnTo>
                      <a:pt x="652027" y="0"/>
                    </a:lnTo>
                    <a:lnTo>
                      <a:pt x="652027" y="222737"/>
                    </a:lnTo>
                    <a:lnTo>
                      <a:pt x="0" y="222737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66675"/>
                <a:ext cx="652027" cy="289412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12V SMPS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580796" y="1971465"/>
              <a:ext cx="2743935" cy="1496149"/>
              <a:chOff x="0" y="0"/>
              <a:chExt cx="652027" cy="355522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652027" cy="355522"/>
              </a:xfrm>
              <a:custGeom>
                <a:avLst/>
                <a:gdLst/>
                <a:ahLst/>
                <a:cxnLst/>
                <a:rect r="r" b="b" t="t" l="l"/>
                <a:pathLst>
                  <a:path h="355522" w="652027">
                    <a:moveTo>
                      <a:pt x="0" y="0"/>
                    </a:moveTo>
                    <a:lnTo>
                      <a:pt x="652027" y="0"/>
                    </a:lnTo>
                    <a:lnTo>
                      <a:pt x="652027" y="355522"/>
                    </a:lnTo>
                    <a:lnTo>
                      <a:pt x="0" y="355522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66675"/>
                <a:ext cx="652027" cy="422197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5V Buck Converter</a:t>
                </a:r>
              </a:p>
            </p:txBody>
          </p:sp>
        </p:grpSp>
        <p:sp>
          <p:nvSpPr>
            <p:cNvPr name="AutoShape 46" id="46"/>
            <p:cNvSpPr/>
            <p:nvPr/>
          </p:nvSpPr>
          <p:spPr>
            <a:xfrm flipH="true">
              <a:off x="10802040" y="4827450"/>
              <a:ext cx="0" cy="851658"/>
            </a:xfrm>
            <a:prstGeom prst="line">
              <a:avLst/>
            </a:pr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47" id="47"/>
            <p:cNvSpPr/>
            <p:nvPr/>
          </p:nvSpPr>
          <p:spPr>
            <a:xfrm>
              <a:off x="5386306" y="2943489"/>
              <a:ext cx="1161589" cy="786878"/>
            </a:xfrm>
            <a:custGeom>
              <a:avLst/>
              <a:gdLst/>
              <a:ahLst/>
              <a:cxnLst/>
              <a:rect r="r" b="b" t="t" l="l"/>
              <a:pathLst>
                <a:path h="786878" w="1161589">
                  <a:moveTo>
                    <a:pt x="1161589" y="0"/>
                  </a:moveTo>
                  <a:lnTo>
                    <a:pt x="292100" y="0"/>
                  </a:lnTo>
                  <a:cubicBezTo>
                    <a:pt x="130778" y="0"/>
                    <a:pt x="0" y="130778"/>
                    <a:pt x="0" y="292100"/>
                  </a:cubicBezTo>
                  <a:lnTo>
                    <a:pt x="0" y="786878"/>
                  </a:lnTo>
                </a:path>
              </a:pathLst>
            </a:cu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11352678" y="7175259"/>
              <a:ext cx="51" cy="574463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8067307" y="4358775"/>
              <a:ext cx="1945154" cy="0"/>
            </a:xfrm>
            <a:prstGeom prst="line">
              <a:avLst/>
            </a:prstGeom>
            <a:ln cap="flat" w="635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50" id="50"/>
            <p:cNvSpPr/>
            <p:nvPr/>
          </p:nvSpPr>
          <p:spPr>
            <a:xfrm>
              <a:off x="1987040" y="5828322"/>
              <a:ext cx="2322047" cy="4014239"/>
            </a:xfrm>
            <a:custGeom>
              <a:avLst/>
              <a:gdLst/>
              <a:ahLst/>
              <a:cxnLst/>
              <a:rect r="r" b="b" t="t" l="l"/>
              <a:pathLst>
                <a:path h="4014239" w="2322047">
                  <a:moveTo>
                    <a:pt x="2322047" y="0"/>
                  </a:moveTo>
                  <a:lnTo>
                    <a:pt x="2322047" y="3005540"/>
                  </a:lnTo>
                  <a:cubicBezTo>
                    <a:pt x="2322047" y="3096482"/>
                    <a:pt x="2285921" y="3183700"/>
                    <a:pt x="2221614" y="3248006"/>
                  </a:cubicBezTo>
                  <a:cubicBezTo>
                    <a:pt x="2157308" y="3312313"/>
                    <a:pt x="2070090" y="3348440"/>
                    <a:pt x="1979147" y="3348440"/>
                  </a:cubicBezTo>
                  <a:lnTo>
                    <a:pt x="332900" y="3348440"/>
                  </a:lnTo>
                  <a:cubicBezTo>
                    <a:pt x="244610" y="3348440"/>
                    <a:pt x="159935" y="3383513"/>
                    <a:pt x="97504" y="3445944"/>
                  </a:cubicBezTo>
                  <a:cubicBezTo>
                    <a:pt x="35074" y="3508375"/>
                    <a:pt x="0" y="3593049"/>
                    <a:pt x="0" y="3681339"/>
                  </a:cubicBezTo>
                  <a:lnTo>
                    <a:pt x="0" y="4014239"/>
                  </a:lnTo>
                </a:path>
              </a:pathLst>
            </a:custGeom>
            <a:ln cap="flat" w="635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1" id="51"/>
            <p:cNvSpPr/>
            <p:nvPr/>
          </p:nvSpPr>
          <p:spPr>
            <a:xfrm flipH="true">
              <a:off x="3762200" y="8059908"/>
              <a:ext cx="1013638" cy="0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52" id="52"/>
            <p:cNvSpPr/>
            <p:nvPr/>
          </p:nvSpPr>
          <p:spPr>
            <a:xfrm>
              <a:off x="1911825" y="4776479"/>
              <a:ext cx="853030" cy="2744877"/>
            </a:xfrm>
            <a:custGeom>
              <a:avLst/>
              <a:gdLst/>
              <a:ahLst/>
              <a:cxnLst/>
              <a:rect r="r" b="b" t="t" l="l"/>
              <a:pathLst>
                <a:path h="2744877" w="853030">
                  <a:moveTo>
                    <a:pt x="0" y="2744877"/>
                  </a:moveTo>
                  <a:lnTo>
                    <a:pt x="0" y="342900"/>
                  </a:lnTo>
                  <a:cubicBezTo>
                    <a:pt x="0" y="153522"/>
                    <a:pt x="153522" y="0"/>
                    <a:pt x="342900" y="0"/>
                  </a:cubicBezTo>
                  <a:lnTo>
                    <a:pt x="853031" y="0"/>
                  </a:lnTo>
                </a:path>
              </a:pathLst>
            </a:custGeom>
            <a:ln cap="flat" w="635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53" id="53"/>
            <p:cNvSpPr/>
            <p:nvPr/>
          </p:nvSpPr>
          <p:spPr>
            <a:xfrm>
              <a:off x="11894482" y="4827450"/>
              <a:ext cx="0" cy="851658"/>
            </a:xfrm>
            <a:prstGeom prst="line">
              <a:avLst/>
            </a:prstGeom>
            <a:ln cap="flat" w="635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54" id="54"/>
            <p:cNvGrpSpPr/>
            <p:nvPr/>
          </p:nvGrpSpPr>
          <p:grpSpPr>
            <a:xfrm rot="0">
              <a:off x="2824406" y="3736097"/>
              <a:ext cx="5242901" cy="2092224"/>
              <a:chOff x="0" y="0"/>
              <a:chExt cx="1245843" cy="497164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245843" cy="497164"/>
              </a:xfrm>
              <a:custGeom>
                <a:avLst/>
                <a:gdLst/>
                <a:ahLst/>
                <a:cxnLst/>
                <a:rect r="r" b="b" t="t" l="l"/>
                <a:pathLst>
                  <a:path h="497164" w="1245843">
                    <a:moveTo>
                      <a:pt x="0" y="0"/>
                    </a:moveTo>
                    <a:lnTo>
                      <a:pt x="1245843" y="0"/>
                    </a:lnTo>
                    <a:lnTo>
                      <a:pt x="1245843" y="497164"/>
                    </a:lnTo>
                    <a:lnTo>
                      <a:pt x="0" y="497164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66675"/>
                <a:ext cx="1245843" cy="563839"/>
              </a:xfrm>
              <a:prstGeom prst="rect">
                <a:avLst/>
              </a:prstGeom>
            </p:spPr>
            <p:txBody>
              <a:bodyPr anchor="ctr" rtlCol="false" tIns="49678" lIns="49678" bIns="49678" rIns="49678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Microcontrollers</a:t>
                </a:r>
              </a:p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(Uno    Mega)</a:t>
                </a:r>
              </a:p>
            </p:txBody>
          </p:sp>
        </p:grpSp>
        <p:sp>
          <p:nvSpPr>
            <p:cNvPr name="Freeform 57" id="57"/>
            <p:cNvSpPr/>
            <p:nvPr/>
          </p:nvSpPr>
          <p:spPr>
            <a:xfrm flipH="false" flipV="false" rot="0">
              <a:off x="5033319" y="4864789"/>
              <a:ext cx="434583" cy="343140"/>
            </a:xfrm>
            <a:custGeom>
              <a:avLst/>
              <a:gdLst/>
              <a:ahLst/>
              <a:cxnLst/>
              <a:rect r="r" b="b" t="t" l="l"/>
              <a:pathLst>
                <a:path h="343140" w="434583">
                  <a:moveTo>
                    <a:pt x="0" y="0"/>
                  </a:moveTo>
                  <a:lnTo>
                    <a:pt x="434583" y="0"/>
                  </a:lnTo>
                  <a:lnTo>
                    <a:pt x="434583" y="343141"/>
                  </a:lnTo>
                  <a:lnTo>
                    <a:pt x="0" y="343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31" r="0" b="-1031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>
              <a:off x="31750" y="2262207"/>
              <a:ext cx="6549045" cy="8328429"/>
            </a:xfrm>
            <a:custGeom>
              <a:avLst/>
              <a:gdLst/>
              <a:ahLst/>
              <a:cxnLst/>
              <a:rect r="r" b="b" t="t" l="l"/>
              <a:pathLst>
                <a:path h="8328429" w="6549045">
                  <a:moveTo>
                    <a:pt x="6549045" y="0"/>
                  </a:moveTo>
                  <a:lnTo>
                    <a:pt x="292100" y="0"/>
                  </a:lnTo>
                  <a:cubicBezTo>
                    <a:pt x="130778" y="0"/>
                    <a:pt x="0" y="130777"/>
                    <a:pt x="0" y="292100"/>
                  </a:cubicBezTo>
                  <a:lnTo>
                    <a:pt x="0" y="8036329"/>
                  </a:lnTo>
                  <a:cubicBezTo>
                    <a:pt x="0" y="8113798"/>
                    <a:pt x="30775" y="8188095"/>
                    <a:pt x="85554" y="8242874"/>
                  </a:cubicBezTo>
                  <a:cubicBezTo>
                    <a:pt x="140333" y="8297654"/>
                    <a:pt x="214630" y="8328429"/>
                    <a:pt x="292100" y="8328429"/>
                  </a:cubicBezTo>
                  <a:lnTo>
                    <a:pt x="822301" y="8328429"/>
                  </a:lnTo>
                </a:path>
              </a:pathLst>
            </a:cu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59" id="59"/>
            <p:cNvSpPr/>
            <p:nvPr/>
          </p:nvSpPr>
          <p:spPr>
            <a:xfrm>
              <a:off x="9324730" y="2262207"/>
              <a:ext cx="5279769" cy="8600475"/>
            </a:xfrm>
            <a:custGeom>
              <a:avLst/>
              <a:gdLst/>
              <a:ahLst/>
              <a:cxnLst/>
              <a:rect r="r" b="b" t="t" l="l"/>
              <a:pathLst>
                <a:path h="8600475" w="5279769">
                  <a:moveTo>
                    <a:pt x="0" y="0"/>
                  </a:moveTo>
                  <a:lnTo>
                    <a:pt x="4987669" y="0"/>
                  </a:lnTo>
                  <a:cubicBezTo>
                    <a:pt x="5065139" y="0"/>
                    <a:pt x="5139435" y="30774"/>
                    <a:pt x="5194215" y="85554"/>
                  </a:cubicBezTo>
                  <a:cubicBezTo>
                    <a:pt x="5248994" y="140333"/>
                    <a:pt x="5279769" y="214630"/>
                    <a:pt x="5279769" y="292100"/>
                  </a:cubicBezTo>
                  <a:lnTo>
                    <a:pt x="5279769" y="8308375"/>
                  </a:lnTo>
                  <a:cubicBezTo>
                    <a:pt x="5279769" y="8385845"/>
                    <a:pt x="5248994" y="8460142"/>
                    <a:pt x="5194215" y="8514920"/>
                  </a:cubicBezTo>
                  <a:cubicBezTo>
                    <a:pt x="5139435" y="8569700"/>
                    <a:pt x="5065139" y="8600475"/>
                    <a:pt x="4987669" y="8600475"/>
                  </a:cubicBezTo>
                  <a:lnTo>
                    <a:pt x="2743935" y="8600475"/>
                  </a:lnTo>
                </a:path>
              </a:pathLst>
            </a:cu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60" id="60"/>
            <p:cNvGrpSpPr/>
            <p:nvPr/>
          </p:nvGrpSpPr>
          <p:grpSpPr>
            <a:xfrm rot="0">
              <a:off x="5092869" y="9848292"/>
              <a:ext cx="2763922" cy="1498395"/>
              <a:chOff x="0" y="0"/>
              <a:chExt cx="642264" cy="348188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642264" cy="348188"/>
              </a:xfrm>
              <a:custGeom>
                <a:avLst/>
                <a:gdLst/>
                <a:ahLst/>
                <a:cxnLst/>
                <a:rect r="r" b="b" t="t" l="l"/>
                <a:pathLst>
                  <a:path h="348188" w="642264">
                    <a:moveTo>
                      <a:pt x="0" y="0"/>
                    </a:moveTo>
                    <a:lnTo>
                      <a:pt x="642264" y="0"/>
                    </a:lnTo>
                    <a:lnTo>
                      <a:pt x="642264" y="348188"/>
                    </a:lnTo>
                    <a:lnTo>
                      <a:pt x="0" y="348188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66675"/>
                <a:ext cx="642264" cy="4148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Back </a:t>
                </a:r>
              </a:p>
              <a:p>
                <a:pPr algn="ctr">
                  <a:lnSpc>
                    <a:spcPts val="3359"/>
                  </a:lnSpc>
                  <a:spcBef>
                    <a:spcPct val="0"/>
                  </a:spcBef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Button</a:t>
                </a:r>
              </a:p>
            </p:txBody>
          </p:sp>
        </p:grpSp>
        <p:sp>
          <p:nvSpPr>
            <p:cNvPr name="Freeform 63" id="63"/>
            <p:cNvSpPr/>
            <p:nvPr/>
          </p:nvSpPr>
          <p:spPr>
            <a:xfrm>
              <a:off x="6474830" y="5828322"/>
              <a:ext cx="0" cy="2384584"/>
            </a:xfrm>
            <a:custGeom>
              <a:avLst/>
              <a:gdLst/>
              <a:ahLst/>
              <a:cxnLst/>
              <a:rect r="r" b="b" t="t" l="l"/>
              <a:pathLst>
                <a:path h="2384584" w="0">
                  <a:moveTo>
                    <a:pt x="0" y="2384584"/>
                  </a:moveTo>
                  <a:lnTo>
                    <a:pt x="0" y="0"/>
                  </a:lnTo>
                </a:path>
              </a:pathLst>
            </a:custGeom>
            <a:ln cap="flat" w="635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64" id="64"/>
            <p:cNvSpPr/>
            <p:nvPr/>
          </p:nvSpPr>
          <p:spPr>
            <a:xfrm>
              <a:off x="7536729" y="5828322"/>
              <a:ext cx="2380128" cy="4014239"/>
            </a:xfrm>
            <a:custGeom>
              <a:avLst/>
              <a:gdLst/>
              <a:ahLst/>
              <a:cxnLst/>
              <a:rect r="r" b="b" t="t" l="l"/>
              <a:pathLst>
                <a:path h="4014239" w="2380128">
                  <a:moveTo>
                    <a:pt x="2380128" y="4014239"/>
                  </a:moveTo>
                  <a:lnTo>
                    <a:pt x="2380128" y="3681339"/>
                  </a:lnTo>
                  <a:cubicBezTo>
                    <a:pt x="2380128" y="3497484"/>
                    <a:pt x="2231083" y="3348440"/>
                    <a:pt x="2047228" y="3348440"/>
                  </a:cubicBezTo>
                  <a:lnTo>
                    <a:pt x="1720090" y="3348440"/>
                  </a:lnTo>
                  <a:cubicBezTo>
                    <a:pt x="1530711" y="3348440"/>
                    <a:pt x="1377190" y="3194918"/>
                    <a:pt x="1377190" y="3005540"/>
                  </a:cubicBezTo>
                  <a:lnTo>
                    <a:pt x="1377190" y="1250632"/>
                  </a:lnTo>
                  <a:cubicBezTo>
                    <a:pt x="1377190" y="1061254"/>
                    <a:pt x="1223668" y="907732"/>
                    <a:pt x="1034290" y="907732"/>
                  </a:cubicBezTo>
                  <a:lnTo>
                    <a:pt x="342900" y="907732"/>
                  </a:lnTo>
                  <a:cubicBezTo>
                    <a:pt x="251958" y="907732"/>
                    <a:pt x="164740" y="871605"/>
                    <a:pt x="100434" y="807299"/>
                  </a:cubicBezTo>
                  <a:cubicBezTo>
                    <a:pt x="36127" y="742992"/>
                    <a:pt x="0" y="655775"/>
                    <a:pt x="0" y="564832"/>
                  </a:cubicBezTo>
                  <a:lnTo>
                    <a:pt x="0" y="0"/>
                  </a:lnTo>
                </a:path>
              </a:pathLst>
            </a:custGeom>
            <a:ln cap="flat" w="635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65" id="65"/>
            <p:cNvSpPr/>
            <p:nvPr/>
          </p:nvSpPr>
          <p:spPr>
            <a:xfrm>
              <a:off x="8067308" y="5280272"/>
              <a:ext cx="1592245" cy="1146910"/>
            </a:xfrm>
            <a:custGeom>
              <a:avLst/>
              <a:gdLst/>
              <a:ahLst/>
              <a:cxnLst/>
              <a:rect r="r" b="b" t="t" l="l"/>
              <a:pathLst>
                <a:path h="1146910" w="1592245">
                  <a:moveTo>
                    <a:pt x="1592244" y="1146910"/>
                  </a:moveTo>
                  <a:lnTo>
                    <a:pt x="1100922" y="1146910"/>
                  </a:lnTo>
                  <a:cubicBezTo>
                    <a:pt x="1020084" y="1146910"/>
                    <a:pt x="942557" y="1114797"/>
                    <a:pt x="885395" y="1057636"/>
                  </a:cubicBezTo>
                  <a:cubicBezTo>
                    <a:pt x="828234" y="1000475"/>
                    <a:pt x="796122" y="922948"/>
                    <a:pt x="796122" y="842110"/>
                  </a:cubicBezTo>
                  <a:lnTo>
                    <a:pt x="796122" y="304800"/>
                  </a:lnTo>
                  <a:cubicBezTo>
                    <a:pt x="796122" y="223962"/>
                    <a:pt x="764009" y="146435"/>
                    <a:pt x="706848" y="89274"/>
                  </a:cubicBezTo>
                  <a:cubicBezTo>
                    <a:pt x="649686" y="32113"/>
                    <a:pt x="572159" y="0"/>
                    <a:pt x="491322" y="0"/>
                  </a:cubicBezTo>
                  <a:lnTo>
                    <a:pt x="0" y="0"/>
                  </a:lnTo>
                </a:path>
              </a:pathLst>
            </a:custGeom>
            <a:ln cap="flat" w="63500">
              <a:solidFill>
                <a:srgbClr val="FFCC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66" id="66"/>
            <p:cNvSpPr/>
            <p:nvPr/>
          </p:nvSpPr>
          <p:spPr>
            <a:xfrm flipH="true">
              <a:off x="8125338" y="8028158"/>
              <a:ext cx="1887174" cy="0"/>
            </a:xfrm>
            <a:prstGeom prst="line">
              <a:avLst/>
            </a:prstGeom>
            <a:ln cap="flat" w="63500">
              <a:solidFill>
                <a:srgbClr val="FF3131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Freeform 67" id="67"/>
            <p:cNvSpPr/>
            <p:nvPr/>
          </p:nvSpPr>
          <p:spPr>
            <a:xfrm>
              <a:off x="9324781" y="2796846"/>
              <a:ext cx="4703077" cy="3974383"/>
            </a:xfrm>
            <a:custGeom>
              <a:avLst/>
              <a:gdLst/>
              <a:ahLst/>
              <a:cxnLst/>
              <a:rect r="r" b="b" t="t" l="l"/>
              <a:pathLst>
                <a:path h="3974383" w="4703077">
                  <a:moveTo>
                    <a:pt x="0" y="0"/>
                  </a:moveTo>
                  <a:lnTo>
                    <a:pt x="4410977" y="0"/>
                  </a:lnTo>
                  <a:cubicBezTo>
                    <a:pt x="4572299" y="0"/>
                    <a:pt x="4703077" y="130778"/>
                    <a:pt x="4703077" y="292100"/>
                  </a:cubicBezTo>
                  <a:lnTo>
                    <a:pt x="4703077" y="3682283"/>
                  </a:lnTo>
                  <a:cubicBezTo>
                    <a:pt x="4703077" y="3843606"/>
                    <a:pt x="4572299" y="3974383"/>
                    <a:pt x="4410977" y="3974383"/>
                  </a:cubicBezTo>
                  <a:lnTo>
                    <a:pt x="3853435" y="3974383"/>
                  </a:lnTo>
                </a:path>
              </a:pathLst>
            </a:custGeom>
            <a:ln cap="flat" w="63500">
              <a:solidFill>
                <a:srgbClr val="00BF63"/>
              </a:solidFill>
              <a:prstDash val="solid"/>
              <a:headEnd type="none" len="sm" w="sm"/>
              <a:tailEnd type="arrow" len="sm" w="med"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382935" y="297225"/>
            <a:ext cx="5333763" cy="73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4"/>
              </a:lnSpc>
            </a:pPr>
            <a:r>
              <a:rPr lang="en-US" b="true" sz="4353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BLOCK DIAGRAM :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2106" y="287700"/>
            <a:ext cx="5408467" cy="718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5"/>
              </a:lnSpc>
            </a:pPr>
            <a:r>
              <a:rPr lang="en-US" sz="4204" b="true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CIRCUIT DIAGRAM 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2981004" y="1161328"/>
            <a:ext cx="11926737" cy="8918886"/>
            <a:chOff x="0" y="0"/>
            <a:chExt cx="15902317" cy="11891848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210223"/>
              <a:ext cx="15902317" cy="11681625"/>
              <a:chOff x="0" y="0"/>
              <a:chExt cx="3141198" cy="2307482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3141198" cy="2307481"/>
              </a:xfrm>
              <a:custGeom>
                <a:avLst/>
                <a:gdLst/>
                <a:ahLst/>
                <a:cxnLst/>
                <a:rect r="r" b="b" t="t" l="l"/>
                <a:pathLst>
                  <a:path h="2307481" w="3141198">
                    <a:moveTo>
                      <a:pt x="33105" y="0"/>
                    </a:moveTo>
                    <a:lnTo>
                      <a:pt x="3108093" y="0"/>
                    </a:lnTo>
                    <a:cubicBezTo>
                      <a:pt x="3126377" y="0"/>
                      <a:pt x="3141198" y="14822"/>
                      <a:pt x="3141198" y="33105"/>
                    </a:cubicBezTo>
                    <a:lnTo>
                      <a:pt x="3141198" y="2274376"/>
                    </a:lnTo>
                    <a:cubicBezTo>
                      <a:pt x="3141198" y="2292660"/>
                      <a:pt x="3126377" y="2307481"/>
                      <a:pt x="3108093" y="2307481"/>
                    </a:cubicBezTo>
                    <a:lnTo>
                      <a:pt x="33105" y="2307481"/>
                    </a:lnTo>
                    <a:cubicBezTo>
                      <a:pt x="14822" y="2307481"/>
                      <a:pt x="0" y="2292660"/>
                      <a:pt x="0" y="2274376"/>
                    </a:cubicBezTo>
                    <a:lnTo>
                      <a:pt x="0" y="33105"/>
                    </a:lnTo>
                    <a:cubicBezTo>
                      <a:pt x="0" y="14822"/>
                      <a:pt x="14822" y="0"/>
                      <a:pt x="3310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3141198" cy="237415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59"/>
                  </a:lnSpc>
                </a:pPr>
              </a:p>
            </p:txBody>
          </p:sp>
        </p:grpSp>
        <p:sp>
          <p:nvSpPr>
            <p:cNvPr name="Freeform 7" id="7"/>
            <p:cNvSpPr/>
            <p:nvPr/>
          </p:nvSpPr>
          <p:spPr>
            <a:xfrm flipH="false" flipV="false" rot="0">
              <a:off x="1295065" y="789635"/>
              <a:ext cx="13312187" cy="10006327"/>
            </a:xfrm>
            <a:custGeom>
              <a:avLst/>
              <a:gdLst/>
              <a:ahLst/>
              <a:cxnLst/>
              <a:rect r="r" b="b" t="t" l="l"/>
              <a:pathLst>
                <a:path h="10006327" w="13312187">
                  <a:moveTo>
                    <a:pt x="0" y="0"/>
                  </a:moveTo>
                  <a:lnTo>
                    <a:pt x="13312187" y="0"/>
                  </a:lnTo>
                  <a:lnTo>
                    <a:pt x="13312187" y="10006327"/>
                  </a:lnTo>
                  <a:lnTo>
                    <a:pt x="0" y="10006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3172803" y="-28575"/>
              <a:ext cx="1493242" cy="3113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60"/>
                </a:lnSpc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46185" y="349250"/>
            <a:ext cx="542911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 :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00221" y="727075"/>
            <a:ext cx="5087559" cy="9107717"/>
            <a:chOff x="0" y="0"/>
            <a:chExt cx="6783412" cy="1214362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783412" cy="950088"/>
              <a:chOff x="0" y="0"/>
              <a:chExt cx="2736871" cy="38332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736871" cy="383328"/>
              </a:xfrm>
              <a:custGeom>
                <a:avLst/>
                <a:gdLst/>
                <a:ahLst/>
                <a:cxnLst/>
                <a:rect r="r" b="b" t="t" l="l"/>
                <a:pathLst>
                  <a:path h="383328" w="2736871">
                    <a:moveTo>
                      <a:pt x="77609" y="0"/>
                    </a:moveTo>
                    <a:lnTo>
                      <a:pt x="2659263" y="0"/>
                    </a:lnTo>
                    <a:cubicBezTo>
                      <a:pt x="2679846" y="0"/>
                      <a:pt x="2699586" y="8177"/>
                      <a:pt x="2714140" y="22731"/>
                    </a:cubicBezTo>
                    <a:cubicBezTo>
                      <a:pt x="2728695" y="37285"/>
                      <a:pt x="2736871" y="57025"/>
                      <a:pt x="2736871" y="77609"/>
                    </a:cubicBezTo>
                    <a:lnTo>
                      <a:pt x="2736871" y="305719"/>
                    </a:lnTo>
                    <a:cubicBezTo>
                      <a:pt x="2736871" y="348581"/>
                      <a:pt x="2702125" y="383328"/>
                      <a:pt x="2659263" y="383328"/>
                    </a:cubicBezTo>
                    <a:lnTo>
                      <a:pt x="77609" y="383328"/>
                    </a:lnTo>
                    <a:cubicBezTo>
                      <a:pt x="34747" y="383328"/>
                      <a:pt x="0" y="348581"/>
                      <a:pt x="0" y="305719"/>
                    </a:cubicBezTo>
                    <a:lnTo>
                      <a:pt x="0" y="77609"/>
                    </a:lnTo>
                    <a:cubicBezTo>
                      <a:pt x="0" y="34747"/>
                      <a:pt x="34747" y="0"/>
                      <a:pt x="7760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66675"/>
                <a:ext cx="2736871" cy="450003"/>
              </a:xfrm>
              <a:prstGeom prst="rect">
                <a:avLst/>
              </a:prstGeom>
            </p:spPr>
            <p:txBody>
              <a:bodyPr anchor="ctr" rtlCol="false" tIns="27647" lIns="27647" bIns="27647" rIns="27647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</a:t>
                </a: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ardware Testing</a:t>
                </a: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1854172"/>
              <a:ext cx="6783412" cy="950088"/>
              <a:chOff x="0" y="0"/>
              <a:chExt cx="2736871" cy="383328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736871" cy="383328"/>
              </a:xfrm>
              <a:custGeom>
                <a:avLst/>
                <a:gdLst/>
                <a:ahLst/>
                <a:cxnLst/>
                <a:rect r="r" b="b" t="t" l="l"/>
                <a:pathLst>
                  <a:path h="383328" w="2736871">
                    <a:moveTo>
                      <a:pt x="77609" y="0"/>
                    </a:moveTo>
                    <a:lnTo>
                      <a:pt x="2659263" y="0"/>
                    </a:lnTo>
                    <a:cubicBezTo>
                      <a:pt x="2679846" y="0"/>
                      <a:pt x="2699586" y="8177"/>
                      <a:pt x="2714140" y="22731"/>
                    </a:cubicBezTo>
                    <a:cubicBezTo>
                      <a:pt x="2728695" y="37285"/>
                      <a:pt x="2736871" y="57025"/>
                      <a:pt x="2736871" y="77609"/>
                    </a:cubicBezTo>
                    <a:lnTo>
                      <a:pt x="2736871" y="305719"/>
                    </a:lnTo>
                    <a:cubicBezTo>
                      <a:pt x="2736871" y="348581"/>
                      <a:pt x="2702125" y="383328"/>
                      <a:pt x="2659263" y="383328"/>
                    </a:cubicBezTo>
                    <a:lnTo>
                      <a:pt x="77609" y="383328"/>
                    </a:lnTo>
                    <a:cubicBezTo>
                      <a:pt x="34747" y="383328"/>
                      <a:pt x="0" y="348581"/>
                      <a:pt x="0" y="305719"/>
                    </a:cubicBezTo>
                    <a:lnTo>
                      <a:pt x="0" y="77609"/>
                    </a:lnTo>
                    <a:cubicBezTo>
                      <a:pt x="0" y="34747"/>
                      <a:pt x="34747" y="0"/>
                      <a:pt x="7760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66675"/>
                <a:ext cx="2736871" cy="450003"/>
              </a:xfrm>
              <a:prstGeom prst="rect">
                <a:avLst/>
              </a:prstGeom>
            </p:spPr>
            <p:txBody>
              <a:bodyPr anchor="ctr" rtlCol="false" tIns="27647" lIns="27647" bIns="27647" rIns="27647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Motor &amp; Encoder Caliberation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0" y="3802112"/>
              <a:ext cx="6783412" cy="950088"/>
              <a:chOff x="0" y="0"/>
              <a:chExt cx="2736871" cy="383328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736871" cy="383328"/>
              </a:xfrm>
              <a:custGeom>
                <a:avLst/>
                <a:gdLst/>
                <a:ahLst/>
                <a:cxnLst/>
                <a:rect r="r" b="b" t="t" l="l"/>
                <a:pathLst>
                  <a:path h="383328" w="2736871">
                    <a:moveTo>
                      <a:pt x="77609" y="0"/>
                    </a:moveTo>
                    <a:lnTo>
                      <a:pt x="2659263" y="0"/>
                    </a:lnTo>
                    <a:cubicBezTo>
                      <a:pt x="2679846" y="0"/>
                      <a:pt x="2699586" y="8177"/>
                      <a:pt x="2714140" y="22731"/>
                    </a:cubicBezTo>
                    <a:cubicBezTo>
                      <a:pt x="2728695" y="37285"/>
                      <a:pt x="2736871" y="57025"/>
                      <a:pt x="2736871" y="77609"/>
                    </a:cubicBezTo>
                    <a:lnTo>
                      <a:pt x="2736871" y="305719"/>
                    </a:lnTo>
                    <a:cubicBezTo>
                      <a:pt x="2736871" y="348581"/>
                      <a:pt x="2702125" y="383328"/>
                      <a:pt x="2659263" y="383328"/>
                    </a:cubicBezTo>
                    <a:lnTo>
                      <a:pt x="77609" y="383328"/>
                    </a:lnTo>
                    <a:cubicBezTo>
                      <a:pt x="34747" y="383328"/>
                      <a:pt x="0" y="348581"/>
                      <a:pt x="0" y="305719"/>
                    </a:cubicBezTo>
                    <a:lnTo>
                      <a:pt x="0" y="77609"/>
                    </a:lnTo>
                    <a:cubicBezTo>
                      <a:pt x="0" y="34747"/>
                      <a:pt x="34747" y="0"/>
                      <a:pt x="7760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66675"/>
                <a:ext cx="2736871" cy="450003"/>
              </a:xfrm>
              <a:prstGeom prst="rect">
                <a:avLst/>
              </a:prstGeom>
            </p:spPr>
            <p:txBody>
              <a:bodyPr anchor="ctr" rtlCol="false" tIns="27647" lIns="27647" bIns="27647" rIns="27647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Design Modification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5703168"/>
              <a:ext cx="6783412" cy="950088"/>
              <a:chOff x="0" y="0"/>
              <a:chExt cx="2736871" cy="383328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736871" cy="383328"/>
              </a:xfrm>
              <a:custGeom>
                <a:avLst/>
                <a:gdLst/>
                <a:ahLst/>
                <a:cxnLst/>
                <a:rect r="r" b="b" t="t" l="l"/>
                <a:pathLst>
                  <a:path h="383328" w="2736871">
                    <a:moveTo>
                      <a:pt x="77609" y="0"/>
                    </a:moveTo>
                    <a:lnTo>
                      <a:pt x="2659263" y="0"/>
                    </a:lnTo>
                    <a:cubicBezTo>
                      <a:pt x="2679846" y="0"/>
                      <a:pt x="2699586" y="8177"/>
                      <a:pt x="2714140" y="22731"/>
                    </a:cubicBezTo>
                    <a:cubicBezTo>
                      <a:pt x="2728695" y="37285"/>
                      <a:pt x="2736871" y="57025"/>
                      <a:pt x="2736871" y="77609"/>
                    </a:cubicBezTo>
                    <a:lnTo>
                      <a:pt x="2736871" y="305719"/>
                    </a:lnTo>
                    <a:cubicBezTo>
                      <a:pt x="2736871" y="348581"/>
                      <a:pt x="2702125" y="383328"/>
                      <a:pt x="2659263" y="383328"/>
                    </a:cubicBezTo>
                    <a:lnTo>
                      <a:pt x="77609" y="383328"/>
                    </a:lnTo>
                    <a:cubicBezTo>
                      <a:pt x="34747" y="383328"/>
                      <a:pt x="0" y="348581"/>
                      <a:pt x="0" y="305719"/>
                    </a:cubicBezTo>
                    <a:lnTo>
                      <a:pt x="0" y="77609"/>
                    </a:lnTo>
                    <a:cubicBezTo>
                      <a:pt x="0" y="34747"/>
                      <a:pt x="34747" y="0"/>
                      <a:pt x="7760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66675"/>
                <a:ext cx="2736871" cy="450003"/>
              </a:xfrm>
              <a:prstGeom prst="rect">
                <a:avLst/>
              </a:prstGeom>
            </p:spPr>
            <p:txBody>
              <a:bodyPr anchor="ctr" rtlCol="false" tIns="27647" lIns="27647" bIns="27647" rIns="27647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Final Parts Fabrication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0" y="7604224"/>
              <a:ext cx="6783412" cy="950088"/>
              <a:chOff x="0" y="0"/>
              <a:chExt cx="2736871" cy="38332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736871" cy="383328"/>
              </a:xfrm>
              <a:custGeom>
                <a:avLst/>
                <a:gdLst/>
                <a:ahLst/>
                <a:cxnLst/>
                <a:rect r="r" b="b" t="t" l="l"/>
                <a:pathLst>
                  <a:path h="383328" w="2736871">
                    <a:moveTo>
                      <a:pt x="77609" y="0"/>
                    </a:moveTo>
                    <a:lnTo>
                      <a:pt x="2659263" y="0"/>
                    </a:lnTo>
                    <a:cubicBezTo>
                      <a:pt x="2679846" y="0"/>
                      <a:pt x="2699586" y="8177"/>
                      <a:pt x="2714140" y="22731"/>
                    </a:cubicBezTo>
                    <a:cubicBezTo>
                      <a:pt x="2728695" y="37285"/>
                      <a:pt x="2736871" y="57025"/>
                      <a:pt x="2736871" y="77609"/>
                    </a:cubicBezTo>
                    <a:lnTo>
                      <a:pt x="2736871" y="305719"/>
                    </a:lnTo>
                    <a:cubicBezTo>
                      <a:pt x="2736871" y="348581"/>
                      <a:pt x="2702125" y="383328"/>
                      <a:pt x="2659263" y="383328"/>
                    </a:cubicBezTo>
                    <a:lnTo>
                      <a:pt x="77609" y="383328"/>
                    </a:lnTo>
                    <a:cubicBezTo>
                      <a:pt x="34747" y="383328"/>
                      <a:pt x="0" y="348581"/>
                      <a:pt x="0" y="305719"/>
                    </a:cubicBezTo>
                    <a:lnTo>
                      <a:pt x="0" y="77609"/>
                    </a:lnTo>
                    <a:cubicBezTo>
                      <a:pt x="0" y="34747"/>
                      <a:pt x="34747" y="0"/>
                      <a:pt x="7760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66675"/>
                <a:ext cx="2736871" cy="450003"/>
              </a:xfrm>
              <a:prstGeom prst="rect">
                <a:avLst/>
              </a:prstGeom>
            </p:spPr>
            <p:txBody>
              <a:bodyPr anchor="ctr" rtlCol="false" tIns="27647" lIns="27647" bIns="27647" rIns="27647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Hardware Int</a:t>
                </a: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egration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0" y="9424202"/>
              <a:ext cx="6783412" cy="950088"/>
              <a:chOff x="0" y="0"/>
              <a:chExt cx="2736871" cy="38332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2736871" cy="383328"/>
              </a:xfrm>
              <a:custGeom>
                <a:avLst/>
                <a:gdLst/>
                <a:ahLst/>
                <a:cxnLst/>
                <a:rect r="r" b="b" t="t" l="l"/>
                <a:pathLst>
                  <a:path h="383328" w="2736871">
                    <a:moveTo>
                      <a:pt x="77609" y="0"/>
                    </a:moveTo>
                    <a:lnTo>
                      <a:pt x="2659263" y="0"/>
                    </a:lnTo>
                    <a:cubicBezTo>
                      <a:pt x="2679846" y="0"/>
                      <a:pt x="2699586" y="8177"/>
                      <a:pt x="2714140" y="22731"/>
                    </a:cubicBezTo>
                    <a:cubicBezTo>
                      <a:pt x="2728695" y="37285"/>
                      <a:pt x="2736871" y="57025"/>
                      <a:pt x="2736871" y="77609"/>
                    </a:cubicBezTo>
                    <a:lnTo>
                      <a:pt x="2736871" y="305719"/>
                    </a:lnTo>
                    <a:cubicBezTo>
                      <a:pt x="2736871" y="348581"/>
                      <a:pt x="2702125" y="383328"/>
                      <a:pt x="2659263" y="383328"/>
                    </a:cubicBezTo>
                    <a:lnTo>
                      <a:pt x="77609" y="383328"/>
                    </a:lnTo>
                    <a:cubicBezTo>
                      <a:pt x="34747" y="383328"/>
                      <a:pt x="0" y="348581"/>
                      <a:pt x="0" y="305719"/>
                    </a:cubicBezTo>
                    <a:lnTo>
                      <a:pt x="0" y="77609"/>
                    </a:lnTo>
                    <a:cubicBezTo>
                      <a:pt x="0" y="34747"/>
                      <a:pt x="34747" y="0"/>
                      <a:pt x="7760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66675"/>
                <a:ext cx="2736871" cy="450003"/>
              </a:xfrm>
              <a:prstGeom prst="rect">
                <a:avLst/>
              </a:prstGeom>
            </p:spPr>
            <p:txBody>
              <a:bodyPr anchor="ctr" rtlCol="false" tIns="27647" lIns="27647" bIns="27647" rIns="27647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</a:t>
                </a: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Wire Conn</a:t>
                </a: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ections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11193534"/>
              <a:ext cx="6783412" cy="950088"/>
              <a:chOff x="0" y="0"/>
              <a:chExt cx="2736871" cy="383328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736871" cy="383328"/>
              </a:xfrm>
              <a:custGeom>
                <a:avLst/>
                <a:gdLst/>
                <a:ahLst/>
                <a:cxnLst/>
                <a:rect r="r" b="b" t="t" l="l"/>
                <a:pathLst>
                  <a:path h="383328" w="2736871">
                    <a:moveTo>
                      <a:pt x="77609" y="0"/>
                    </a:moveTo>
                    <a:lnTo>
                      <a:pt x="2659263" y="0"/>
                    </a:lnTo>
                    <a:cubicBezTo>
                      <a:pt x="2679846" y="0"/>
                      <a:pt x="2699586" y="8177"/>
                      <a:pt x="2714140" y="22731"/>
                    </a:cubicBezTo>
                    <a:cubicBezTo>
                      <a:pt x="2728695" y="37285"/>
                      <a:pt x="2736871" y="57025"/>
                      <a:pt x="2736871" y="77609"/>
                    </a:cubicBezTo>
                    <a:lnTo>
                      <a:pt x="2736871" y="305719"/>
                    </a:lnTo>
                    <a:cubicBezTo>
                      <a:pt x="2736871" y="348581"/>
                      <a:pt x="2702125" y="383328"/>
                      <a:pt x="2659263" y="383328"/>
                    </a:cubicBezTo>
                    <a:lnTo>
                      <a:pt x="77609" y="383328"/>
                    </a:lnTo>
                    <a:cubicBezTo>
                      <a:pt x="34747" y="383328"/>
                      <a:pt x="0" y="348581"/>
                      <a:pt x="0" y="305719"/>
                    </a:cubicBezTo>
                    <a:lnTo>
                      <a:pt x="0" y="77609"/>
                    </a:lnTo>
                    <a:cubicBezTo>
                      <a:pt x="0" y="34747"/>
                      <a:pt x="34747" y="0"/>
                      <a:pt x="77609" y="0"/>
                    </a:cubicBezTo>
                    <a:close/>
                  </a:path>
                </a:pathLst>
              </a:custGeom>
              <a:solidFill>
                <a:srgbClr val="C8D1D9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66675"/>
                <a:ext cx="2736871" cy="450003"/>
              </a:xfrm>
              <a:prstGeom prst="rect">
                <a:avLst/>
              </a:prstGeom>
            </p:spPr>
            <p:txBody>
              <a:bodyPr anchor="ctr" rtlCol="false" tIns="27647" lIns="27647" bIns="27647" rIns="27647"/>
              <a:lstStyle/>
              <a:p>
                <a:pPr algn="ctr">
                  <a:lnSpc>
                    <a:spcPts val="3359"/>
                  </a:lnSpc>
                </a:pPr>
                <a:r>
                  <a:rPr lang="en-US" sz="2399">
                    <a:solidFill>
                      <a:srgbClr val="000000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Model Testing and Rectifications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908742" y="1043856"/>
              <a:ext cx="965927" cy="763432"/>
              <a:chOff x="0" y="0"/>
              <a:chExt cx="1028390" cy="8128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2839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28390">
                    <a:moveTo>
                      <a:pt x="514195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825190" y="0"/>
                    </a:lnTo>
                    <a:lnTo>
                      <a:pt x="825190" y="406400"/>
                    </a:lnTo>
                    <a:lnTo>
                      <a:pt x="1028390" y="406400"/>
                    </a:lnTo>
                    <a:lnTo>
                      <a:pt x="514195" y="812800"/>
                    </a:lnTo>
                    <a:close/>
                  </a:path>
                </a:pathLst>
              </a:custGeom>
              <a:solidFill>
                <a:srgbClr val="033168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203200" y="-76200"/>
                <a:ext cx="62199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2908742" y="2921470"/>
              <a:ext cx="965927" cy="763432"/>
              <a:chOff x="0" y="0"/>
              <a:chExt cx="1028390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02839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28390">
                    <a:moveTo>
                      <a:pt x="514195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825190" y="0"/>
                    </a:lnTo>
                    <a:lnTo>
                      <a:pt x="825190" y="406400"/>
                    </a:lnTo>
                    <a:lnTo>
                      <a:pt x="1028390" y="406400"/>
                    </a:lnTo>
                    <a:lnTo>
                      <a:pt x="514195" y="812800"/>
                    </a:lnTo>
                    <a:close/>
                  </a:path>
                </a:pathLst>
              </a:custGeom>
              <a:solidFill>
                <a:srgbClr val="033168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203200" y="-76200"/>
                <a:ext cx="62199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2908742" y="4866449"/>
              <a:ext cx="965927" cy="763432"/>
              <a:chOff x="0" y="0"/>
              <a:chExt cx="1028390" cy="8128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2839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28390">
                    <a:moveTo>
                      <a:pt x="514195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825190" y="0"/>
                    </a:lnTo>
                    <a:lnTo>
                      <a:pt x="825190" y="406400"/>
                    </a:lnTo>
                    <a:lnTo>
                      <a:pt x="1028390" y="406400"/>
                    </a:lnTo>
                    <a:lnTo>
                      <a:pt x="514195" y="812800"/>
                    </a:lnTo>
                    <a:close/>
                  </a:path>
                </a:pathLst>
              </a:custGeom>
              <a:solidFill>
                <a:srgbClr val="033168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203200" y="-76200"/>
                <a:ext cx="62199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2908742" y="6698956"/>
              <a:ext cx="965927" cy="763432"/>
              <a:chOff x="0" y="0"/>
              <a:chExt cx="102839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2839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28390">
                    <a:moveTo>
                      <a:pt x="514195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825190" y="0"/>
                    </a:lnTo>
                    <a:lnTo>
                      <a:pt x="825190" y="406400"/>
                    </a:lnTo>
                    <a:lnTo>
                      <a:pt x="1028390" y="406400"/>
                    </a:lnTo>
                    <a:lnTo>
                      <a:pt x="514195" y="812800"/>
                    </a:lnTo>
                    <a:close/>
                  </a:path>
                </a:pathLst>
              </a:custGeom>
              <a:solidFill>
                <a:srgbClr val="033168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203200" y="-76200"/>
                <a:ext cx="62199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2908742" y="8622861"/>
              <a:ext cx="965927" cy="763432"/>
              <a:chOff x="0" y="0"/>
              <a:chExt cx="102839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2839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28390">
                    <a:moveTo>
                      <a:pt x="514195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825190" y="0"/>
                    </a:lnTo>
                    <a:lnTo>
                      <a:pt x="825190" y="406400"/>
                    </a:lnTo>
                    <a:lnTo>
                      <a:pt x="1028390" y="406400"/>
                    </a:lnTo>
                    <a:lnTo>
                      <a:pt x="514195" y="812800"/>
                    </a:lnTo>
                    <a:close/>
                  </a:path>
                </a:pathLst>
              </a:custGeom>
              <a:solidFill>
                <a:srgbClr val="033168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203200" y="-76200"/>
                <a:ext cx="62199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2908742" y="10442839"/>
              <a:ext cx="965927" cy="763432"/>
              <a:chOff x="0" y="0"/>
              <a:chExt cx="1028390" cy="8128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2839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28390">
                    <a:moveTo>
                      <a:pt x="514195" y="812800"/>
                    </a:moveTo>
                    <a:lnTo>
                      <a:pt x="0" y="406400"/>
                    </a:lnTo>
                    <a:lnTo>
                      <a:pt x="203200" y="406400"/>
                    </a:lnTo>
                    <a:lnTo>
                      <a:pt x="203200" y="0"/>
                    </a:lnTo>
                    <a:lnTo>
                      <a:pt x="825190" y="0"/>
                    </a:lnTo>
                    <a:lnTo>
                      <a:pt x="825190" y="406400"/>
                    </a:lnTo>
                    <a:lnTo>
                      <a:pt x="1028390" y="406400"/>
                    </a:lnTo>
                    <a:lnTo>
                      <a:pt x="514195" y="812800"/>
                    </a:lnTo>
                    <a:close/>
                  </a:path>
                </a:pathLst>
              </a:custGeom>
              <a:solidFill>
                <a:srgbClr val="033168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203200" y="-76200"/>
                <a:ext cx="621990" cy="7874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79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7855" y="139399"/>
            <a:ext cx="14216145" cy="780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3"/>
              </a:lnSpc>
            </a:pPr>
            <a:r>
              <a:rPr lang="en-US" sz="4523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REFERENCES 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47855" y="1151467"/>
            <a:ext cx="17392290" cy="834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6"/>
              </a:lnSpc>
            </a:pPr>
            <a:r>
              <a:rPr lang="en-US" sz="190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[1.]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Bo Li, Hualing Chen, Junhua Qiang, Shulin Hu, Zicai Zhu and Yongquan Wang 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(2011)</a:t>
            </a:r>
          </a:p>
          <a:p>
            <a:pPr algn="just">
              <a:lnSpc>
                <a:spcPts val="2666"/>
              </a:lnSpc>
            </a:pPr>
            <a:r>
              <a:rPr lang="en-US" b="true" sz="1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Effect of mechanical pre-stretch on the stabilization of dielectric elastomer actuation.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Journal of Physics D: Applied Physics, 44, 155301.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DOI: 10.1088/0022-3727/44/15/155301  </a:t>
            </a:r>
          </a:p>
          <a:p>
            <a:pPr algn="just">
              <a:lnSpc>
                <a:spcPts val="2666"/>
              </a:lnSpc>
            </a:pPr>
          </a:p>
          <a:p>
            <a:pPr algn="just">
              <a:lnSpc>
                <a:spcPts val="2666"/>
              </a:lnSpc>
            </a:pPr>
            <a:r>
              <a:rPr lang="en-US" b="true" sz="1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[2.]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Liang Jiang, Anthony Betts, David Kennedy and Stephen Jerrams 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(2016)</a:t>
            </a:r>
          </a:p>
          <a:p>
            <a:pPr algn="just">
              <a:lnSpc>
                <a:spcPts val="2666"/>
              </a:lnSpc>
            </a:pPr>
            <a:r>
              <a:rPr lang="en-US" b="true" sz="1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Eliminating electromechanical instability in dielectric elastomers by employing pre-stretch.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Journal of Physics D: Applied Physics, 49, 265401.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DOI: 10.1088/0022-3727/49/26/265401 </a:t>
            </a:r>
          </a:p>
          <a:p>
            <a:pPr algn="just">
              <a:lnSpc>
                <a:spcPts val="2666"/>
              </a:lnSpc>
            </a:pPr>
          </a:p>
          <a:p>
            <a:pPr algn="just">
              <a:lnSpc>
                <a:spcPts val="2666"/>
              </a:lnSpc>
            </a:pPr>
            <a:r>
              <a:rPr lang="en-US" b="true" sz="1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[3.]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Deepak Kumara, Somnath Sarang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(2020)</a:t>
            </a:r>
          </a:p>
          <a:p>
            <a:pPr algn="just">
              <a:lnSpc>
                <a:spcPts val="2666"/>
              </a:lnSpc>
            </a:pPr>
            <a:r>
              <a:rPr lang="en-US" b="true" sz="1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Pre-stretching effect modeling of a dielectric elastomer under the electrical loading condition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Materials Today: Proceedings, 24, 290–297.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DOI: 10.1016/j.matpr.2020.04.278 </a:t>
            </a:r>
          </a:p>
          <a:p>
            <a:pPr algn="just">
              <a:lnSpc>
                <a:spcPts val="2666"/>
              </a:lnSpc>
            </a:pPr>
          </a:p>
          <a:p>
            <a:pPr algn="just">
              <a:lnSpc>
                <a:spcPts val="2666"/>
              </a:lnSpc>
            </a:pPr>
            <a:r>
              <a:rPr lang="en-US" b="true" sz="1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[4.]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Danh Quang Tran , Jin Li , Fuzhen Xuan and Ting Xiao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(2018)</a:t>
            </a:r>
          </a:p>
          <a:p>
            <a:pPr algn="just">
              <a:lnSpc>
                <a:spcPts val="2666"/>
              </a:lnSpc>
            </a:pPr>
            <a:r>
              <a:rPr lang="en-US" b="true" sz="1904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Viscoelastic effects on the actuation performance of a dielectric elastomer actuator under different equal, un-equal biaxial pre-stretches. *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Materials Research Express, 5, 065303.</a:t>
            </a:r>
          </a:p>
          <a:p>
            <a:pPr algn="just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DOI: 10.1088/2053-1591/aac673</a:t>
            </a:r>
          </a:p>
          <a:p>
            <a:pPr algn="just">
              <a:lnSpc>
                <a:spcPts val="2666"/>
              </a:lnSpc>
            </a:pPr>
          </a:p>
          <a:p>
            <a:pPr algn="l">
              <a:lnSpc>
                <a:spcPts val="2666"/>
              </a:lnSpc>
            </a:pPr>
            <a:r>
              <a:rPr lang="en-US" sz="190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[5.]</a:t>
            </a: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Ajeet Kumar , Dilshad Ahmad , Karali Patra (2018)</a:t>
            </a:r>
          </a:p>
          <a:p>
            <a:pPr algn="l">
              <a:lnSpc>
                <a:spcPts val="2666"/>
              </a:lnSpc>
            </a:pPr>
            <a:r>
              <a:rPr lang="en-US" sz="1904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Dependence of Actuation Strain of Dielectric Elastomer on Equi-biaxial, Pure Shear and Uniaxial Modes of Pre-stretching. *</a:t>
            </a:r>
          </a:p>
          <a:p>
            <a:pPr algn="l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IOP Conference Series: Materials Science and Engineering, 310, 012104.</a:t>
            </a:r>
          </a:p>
          <a:p>
            <a:pPr algn="l">
              <a:lnSpc>
                <a:spcPts val="2666"/>
              </a:lnSpc>
            </a:pPr>
            <a:r>
              <a:rPr lang="en-US" sz="190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DOI: 10.1088/1757-899X/310/1/012104 </a:t>
            </a:r>
          </a:p>
          <a:p>
            <a:pPr algn="just">
              <a:lnSpc>
                <a:spcPts val="2666"/>
              </a:lnSpc>
            </a:pP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5128" y="4034967"/>
            <a:ext cx="16517743" cy="199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99"/>
              </a:lnSpc>
            </a:pPr>
            <a:r>
              <a:rPr lang="en-US" sz="11713">
                <a:solidFill>
                  <a:srgbClr val="03316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DAHVJvorvF0</dc:identifier>
  <dcterms:modified xsi:type="dcterms:W3CDTF">2011-08-01T06:04:30Z</dcterms:modified>
  <cp:revision>1</cp:revision>
  <dc:title>BTP - ABSM for DE</dc:title>
</cp:coreProperties>
</file>